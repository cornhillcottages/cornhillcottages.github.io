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1" r:id="rId1"/>
  </p:sldMasterIdLst>
  <p:notesMasterIdLst>
    <p:notesMasterId r:id="rId9"/>
  </p:notesMasterIdLst>
  <p:sldIdLst>
    <p:sldId id="256" r:id="rId2"/>
    <p:sldId id="257" r:id="rId3"/>
    <p:sldId id="259" r:id="rId4"/>
    <p:sldId id="258" r:id="rId5"/>
    <p:sldId id="263" r:id="rId6"/>
    <p:sldId id="266" r:id="rId7"/>
    <p:sldId id="260" r:id="rId8"/>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2" roundtripDataSignature="AMtx7mgYnCaeCj52v3Ier+e3q7yylnHMF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DC8D6D1-470A-4AF7-8CCC-47941E2CDC6A}">
  <a:tblStyle styleId="{9DC8D6D1-470A-4AF7-8CCC-47941E2CDC6A}"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94653"/>
  </p:normalViewPr>
  <p:slideViewPr>
    <p:cSldViewPr snapToGrid="0">
      <p:cViewPr varScale="1">
        <p:scale>
          <a:sx n="158" d="100"/>
          <a:sy n="158" d="100"/>
        </p:scale>
        <p:origin x="560" y="17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customschemas.google.com/relationships/presentationmetadata" Target="meta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3" name="Google Shape;10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9" name="Google Shape;10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1" name="Google Shape;12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5" name="Google Shape;11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289dc0075e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289dc0075e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372644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289dc0075e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289dc0075e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569214"/>
            <a:ext cx="7543800" cy="2674620"/>
          </a:xfrm>
        </p:spPr>
        <p:txBody>
          <a:bodyPr anchor="b">
            <a:normAutofit/>
          </a:bodyPr>
          <a:lstStyle>
            <a:lvl1pPr algn="l">
              <a:lnSpc>
                <a:spcPct val="85000"/>
              </a:lnSpc>
              <a:defRPr sz="6000" spc="-38"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3341715"/>
            <a:ext cx="7543800" cy="857250"/>
          </a:xfrm>
        </p:spPr>
        <p:txBody>
          <a:bodyPr lIns="91440" rIns="91440">
            <a:normAutofit/>
          </a:bodyPr>
          <a:lstStyle>
            <a:lvl1pPr marL="0" indent="0" algn="l">
              <a:buNone/>
              <a:defRPr sz="1800" cap="all" spc="150" baseline="0">
                <a:solidFill>
                  <a:schemeClr val="tx2"/>
                </a:solidFill>
                <a:latin typeface="+mj-lt"/>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18099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123363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69214"/>
            <a:ext cx="7543800" cy="2674620"/>
          </a:xfrm>
        </p:spPr>
        <p:txBody>
          <a:bodyPr anchor="b" anchorCtr="0">
            <a:normAutofit/>
          </a:bodyPr>
          <a:lstStyle>
            <a:lvl1pPr>
              <a:lnSpc>
                <a:spcPct val="85000"/>
              </a:lnSpc>
              <a:defRPr sz="6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3339846"/>
            <a:ext cx="7543800" cy="857250"/>
          </a:xfrm>
        </p:spPr>
        <p:txBody>
          <a:bodyPr lIns="91440" rIns="91440" anchor="t" anchorCtr="0">
            <a:normAutofit/>
          </a:bodyPr>
          <a:lstStyle>
            <a:lvl1pPr marL="0" indent="0">
              <a:buNone/>
              <a:defRPr sz="1800" cap="all" spc="150" baseline="0">
                <a:solidFill>
                  <a:schemeClr val="tx2"/>
                </a:solidFill>
                <a:latin typeface="+mj-lt"/>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1327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59" y="1384301"/>
            <a:ext cx="3703320" cy="3017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384301"/>
            <a:ext cx="3703320" cy="3017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0977368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22960" y="1936751"/>
            <a:ext cx="3703320" cy="2533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63440" y="1936751"/>
            <a:ext cx="3703320" cy="2533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9467070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8223991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3671360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45769"/>
            <a:ext cx="2400300" cy="1714500"/>
          </a:xfrm>
        </p:spPr>
        <p:txBody>
          <a:bodyPr anchor="b">
            <a:normAutofit/>
          </a:bodyPr>
          <a:lstStyle>
            <a:lvl1pPr>
              <a:defRPr sz="27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00450" y="548640"/>
            <a:ext cx="4869180" cy="3943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194560"/>
            <a:ext cx="2400300" cy="2534343"/>
          </a:xfrm>
        </p:spPr>
        <p:txBody>
          <a:bodyPr lIns="91440" rIns="91440">
            <a:normAutofit/>
          </a:bodyPr>
          <a:lstStyle>
            <a:lvl1pPr marL="0" indent="0">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a:xfrm>
            <a:off x="349134" y="4844839"/>
            <a:ext cx="1963883" cy="273844"/>
          </a:xfrm>
        </p:spPr>
        <p:txBody>
          <a:bodyPr/>
          <a:lstStyle>
            <a:lvl1pPr algn="l">
              <a:defRPr/>
            </a:lvl1pPr>
          </a:lstStyle>
          <a:p>
            <a:endParaRPr lang="en-US"/>
          </a:p>
        </p:txBody>
      </p:sp>
      <p:sp>
        <p:nvSpPr>
          <p:cNvPr id="6" name="Footer Placeholder 5"/>
          <p:cNvSpPr>
            <a:spLocks noGrp="1"/>
          </p:cNvSpPr>
          <p:nvPr>
            <p:ph type="ftr" sz="quarter" idx="11"/>
          </p:nvPr>
        </p:nvSpPr>
        <p:spPr>
          <a:xfrm>
            <a:off x="3600450" y="4844839"/>
            <a:ext cx="3486150" cy="273844"/>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7024136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3714750"/>
            <a:ext cx="9141619" cy="142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368630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3806190"/>
            <a:ext cx="7584948" cy="617220"/>
          </a:xfrm>
        </p:spPr>
        <p:txBody>
          <a:bodyPr lIns="91440" tIns="0" rIns="91440" bIns="0" anchor="b">
            <a:noAutofit/>
          </a:bodyPr>
          <a:lstStyle>
            <a:lvl1pPr>
              <a:defRPr sz="27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3686307"/>
          </a:xfrm>
          <a:blipFill>
            <a:blip r:embed="rId2"/>
            <a:stretch>
              <a:fillRect/>
            </a:stretch>
          </a:blipFill>
        </p:spPr>
        <p:txBody>
          <a:bodyPr lIns="457200" tIns="457200" anchor="t"/>
          <a:lstStyle>
            <a:lvl1pPr marL="0" indent="0">
              <a:buNone/>
              <a:defRPr sz="240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822960" y="4430267"/>
            <a:ext cx="7584948" cy="445770"/>
          </a:xfrm>
        </p:spPr>
        <p:txBody>
          <a:bodyPr lIns="91440" tIns="0" rIns="91440" bIns="0">
            <a:normAutofit/>
          </a:bodyPr>
          <a:lstStyle>
            <a:lvl1pPr marL="0" indent="0">
              <a:spcBef>
                <a:spcPts val="0"/>
              </a:spcBef>
              <a:spcAft>
                <a:spcPts val="450"/>
              </a:spcAft>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98009927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595003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311084"/>
            <a:ext cx="1971675" cy="431806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11083"/>
            <a:ext cx="5800725" cy="4318067"/>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0580518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3"/>
        <p:cNvGrpSpPr/>
        <p:nvPr/>
      </p:nvGrpSpPr>
      <p:grpSpPr>
        <a:xfrm>
          <a:off x="0" y="0"/>
          <a:ext cx="0" cy="0"/>
          <a:chOff x="0" y="0"/>
          <a:chExt cx="0" cy="0"/>
        </a:xfrm>
      </p:grpSpPr>
      <p:sp>
        <p:nvSpPr>
          <p:cNvPr id="24" name="Google Shape;24;p10"/>
          <p:cNvSpPr txBox="1">
            <a:spLocks noGrp="1"/>
          </p:cNvSpPr>
          <p:nvPr>
            <p:ph type="title"/>
          </p:nvPr>
        </p:nvSpPr>
        <p:spPr>
          <a:xfrm>
            <a:off x="311700" y="391350"/>
            <a:ext cx="8520600" cy="626100"/>
          </a:xfrm>
          <a:prstGeom prst="rect">
            <a:avLst/>
          </a:prstGeom>
          <a:noFill/>
          <a:ln>
            <a:noFill/>
          </a:ln>
        </p:spPr>
        <p:txBody>
          <a:bodyPr spcFirstLastPara="1" wrap="square" lIns="91425" tIns="91425" rIns="91425" bIns="91425" anchor="t" anchorCtr="0">
            <a:normAutofit/>
          </a:bodyPr>
          <a:lstStyle>
            <a:lvl1pPr lvl="0" algn="l">
              <a:lnSpc>
                <a:spcPct val="85000"/>
              </a:lnSpc>
              <a:spcBef>
                <a:spcPts val="0"/>
              </a:spcBef>
              <a:spcAft>
                <a:spcPts val="0"/>
              </a:spcAft>
              <a:buClr>
                <a:srgbClr val="3F3F3F"/>
              </a:buClr>
              <a:buSzPts val="3200"/>
              <a:buFont typeface="Calibri"/>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a:endParaRPr/>
          </a:p>
        </p:txBody>
      </p:sp>
      <p:sp>
        <p:nvSpPr>
          <p:cNvPr id="25" name="Google Shape;25;p10"/>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90000"/>
              </a:lnSpc>
              <a:spcBef>
                <a:spcPts val="0"/>
              </a:spcBef>
              <a:spcAft>
                <a:spcPts val="0"/>
              </a:spcAft>
              <a:buSzPts val="1800"/>
              <a:buChar char="●"/>
              <a:defRPr/>
            </a:lvl1pPr>
            <a:lvl2pPr marL="914400" lvl="1" indent="-317500" algn="l">
              <a:lnSpc>
                <a:spcPct val="90000"/>
              </a:lnSpc>
              <a:spcBef>
                <a:spcPts val="0"/>
              </a:spcBef>
              <a:spcAft>
                <a:spcPts val="0"/>
              </a:spcAft>
              <a:buSzPts val="1400"/>
              <a:buChar char="○"/>
              <a:defRPr/>
            </a:lvl2pPr>
            <a:lvl3pPr marL="1371600" lvl="2" indent="-317500" algn="l">
              <a:lnSpc>
                <a:spcPct val="90000"/>
              </a:lnSpc>
              <a:spcBef>
                <a:spcPts val="0"/>
              </a:spcBef>
              <a:spcAft>
                <a:spcPts val="0"/>
              </a:spcAft>
              <a:buSzPts val="1400"/>
              <a:buChar char="■"/>
              <a:defRPr/>
            </a:lvl3pPr>
            <a:lvl4pPr marL="1828800" lvl="3" indent="-317500" algn="l">
              <a:lnSpc>
                <a:spcPct val="90000"/>
              </a:lnSpc>
              <a:spcBef>
                <a:spcPts val="0"/>
              </a:spcBef>
              <a:spcAft>
                <a:spcPts val="0"/>
              </a:spcAft>
              <a:buSzPts val="1400"/>
              <a:buChar char="●"/>
              <a:defRPr/>
            </a:lvl4pPr>
            <a:lvl5pPr marL="2286000" lvl="4" indent="-317500" algn="l">
              <a:lnSpc>
                <a:spcPct val="90000"/>
              </a:lnSpc>
              <a:spcBef>
                <a:spcPts val="0"/>
              </a:spcBef>
              <a:spcAft>
                <a:spcPts val="0"/>
              </a:spcAft>
              <a:buSzPts val="1400"/>
              <a:buChar char="○"/>
              <a:defRPr/>
            </a:lvl5pPr>
            <a:lvl6pPr marL="2743200" lvl="5" indent="-317500" algn="l">
              <a:lnSpc>
                <a:spcPct val="90000"/>
              </a:lnSpc>
              <a:spcBef>
                <a:spcPts val="0"/>
              </a:spcBef>
              <a:spcAft>
                <a:spcPts val="0"/>
              </a:spcAft>
              <a:buSzPts val="1400"/>
              <a:buChar char="■"/>
              <a:defRPr/>
            </a:lvl6pPr>
            <a:lvl7pPr marL="3200400" lvl="6" indent="-317500" algn="l">
              <a:lnSpc>
                <a:spcPct val="90000"/>
              </a:lnSpc>
              <a:spcBef>
                <a:spcPts val="0"/>
              </a:spcBef>
              <a:spcAft>
                <a:spcPts val="0"/>
              </a:spcAft>
              <a:buSzPts val="1400"/>
              <a:buChar char="●"/>
              <a:defRPr/>
            </a:lvl7pPr>
            <a:lvl8pPr marL="3657600" lvl="7" indent="-317500" algn="l">
              <a:lnSpc>
                <a:spcPct val="90000"/>
              </a:lnSpc>
              <a:spcBef>
                <a:spcPts val="0"/>
              </a:spcBef>
              <a:spcAft>
                <a:spcPts val="0"/>
              </a:spcAft>
              <a:buSzPts val="1400"/>
              <a:buChar char="○"/>
              <a:defRPr/>
            </a:lvl8pPr>
            <a:lvl9pPr marL="4114800" lvl="8" indent="-317500" algn="l">
              <a:lnSpc>
                <a:spcPct val="90000"/>
              </a:lnSpc>
              <a:spcBef>
                <a:spcPts val="0"/>
              </a:spcBef>
              <a:spcAft>
                <a:spcPts val="0"/>
              </a:spcAft>
              <a:buSzPts val="1400"/>
              <a:buChar char="■"/>
              <a:defRPr/>
            </a:lvl9pPr>
          </a:lstStyle>
          <a:p>
            <a:endParaRPr/>
          </a:p>
        </p:txBody>
      </p:sp>
      <p:sp>
        <p:nvSpPr>
          <p:cNvPr id="26" name="Google Shape;26;p10"/>
          <p:cNvSpPr txBox="1">
            <a:spLocks noGrp="1"/>
          </p:cNvSpPr>
          <p:nvPr>
            <p:ph type="sldNum" idx="12"/>
          </p:nvPr>
        </p:nvSpPr>
        <p:spPr>
          <a:xfrm>
            <a:off x="8490250" y="4681009"/>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FFFFFF"/>
              </a:buClr>
              <a:buSzPts val="788"/>
              <a:buFont typeface="Calibri"/>
              <a:buNone/>
              <a:defRPr sz="788"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FFFFFF"/>
              </a:buClr>
              <a:buSzPts val="788"/>
              <a:buFont typeface="Calibri"/>
              <a:buNone/>
              <a:defRPr sz="788"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FFFFFF"/>
              </a:buClr>
              <a:buSzPts val="788"/>
              <a:buFont typeface="Calibri"/>
              <a:buNone/>
              <a:defRPr sz="788"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FFFFFF"/>
              </a:buClr>
              <a:buSzPts val="788"/>
              <a:buFont typeface="Calibri"/>
              <a:buNone/>
              <a:defRPr sz="788"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FFFFFF"/>
              </a:buClr>
              <a:buSzPts val="788"/>
              <a:buFont typeface="Calibri"/>
              <a:buNone/>
              <a:defRPr sz="788"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FFFFFF"/>
              </a:buClr>
              <a:buSzPts val="788"/>
              <a:buFont typeface="Calibri"/>
              <a:buNone/>
              <a:defRPr sz="788"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FFFFFF"/>
              </a:buClr>
              <a:buSzPts val="788"/>
              <a:buFont typeface="Calibri"/>
              <a:buNone/>
              <a:defRPr sz="788"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FFFFFF"/>
              </a:buClr>
              <a:buSzPts val="788"/>
              <a:buFont typeface="Calibri"/>
              <a:buNone/>
              <a:defRPr sz="788"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FFFFFF"/>
              </a:buClr>
              <a:buSzPts val="788"/>
              <a:buFont typeface="Calibri"/>
              <a:buNone/>
              <a:defRPr sz="788"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0157604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4800600"/>
            <a:ext cx="9144000"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4750737"/>
            <a:ext cx="9144001" cy="494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14953"/>
            <a:ext cx="7543800" cy="1088068"/>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60" y="1384301"/>
            <a:ext cx="7543800" cy="301752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4844839"/>
            <a:ext cx="1854203" cy="273844"/>
          </a:xfrm>
          <a:prstGeom prst="rect">
            <a:avLst/>
          </a:prstGeom>
        </p:spPr>
        <p:txBody>
          <a:bodyPr vert="horz" lIns="91440" tIns="45720" rIns="91440" bIns="45720" rtlCol="0" anchor="ctr"/>
          <a:lstStyle>
            <a:lvl1pPr algn="l">
              <a:defRPr sz="675">
                <a:solidFill>
                  <a:srgbClr val="FFFFFF"/>
                </a:solidFill>
              </a:defRPr>
            </a:lvl1pPr>
          </a:lstStyle>
          <a:p>
            <a:endParaRPr lang="en-US"/>
          </a:p>
        </p:txBody>
      </p:sp>
      <p:sp>
        <p:nvSpPr>
          <p:cNvPr id="5" name="Footer Placeholder 4"/>
          <p:cNvSpPr>
            <a:spLocks noGrp="1"/>
          </p:cNvSpPr>
          <p:nvPr>
            <p:ph type="ftr" sz="quarter" idx="3"/>
          </p:nvPr>
        </p:nvSpPr>
        <p:spPr>
          <a:xfrm>
            <a:off x="2764639" y="4844839"/>
            <a:ext cx="3617103" cy="273844"/>
          </a:xfrm>
          <a:prstGeom prst="rect">
            <a:avLst/>
          </a:prstGeom>
        </p:spPr>
        <p:txBody>
          <a:bodyPr vert="horz" lIns="91440" tIns="45720" rIns="91440" bIns="45720" rtlCol="0" anchor="ctr"/>
          <a:lstStyle>
            <a:lvl1pPr algn="ctr">
              <a:defRPr sz="675"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4844839"/>
            <a:ext cx="984019" cy="273844"/>
          </a:xfrm>
          <a:prstGeom prst="rect">
            <a:avLst/>
          </a:prstGeom>
        </p:spPr>
        <p:txBody>
          <a:bodyPr vert="horz" lIns="91440" tIns="45720" rIns="91440" bIns="45720" rtlCol="0" anchor="ctr"/>
          <a:lstStyle>
            <a:lvl1pPr algn="r">
              <a:defRPr sz="788">
                <a:solidFill>
                  <a:srgbClr val="FFFFFF"/>
                </a:solidFill>
              </a:defRPr>
            </a:lvl1pPr>
          </a:lstStyle>
          <a:p>
            <a:pPr marL="0" lvl="0" indent="0" algn="r" rtl="0">
              <a:spcBef>
                <a:spcPts val="0"/>
              </a:spcBef>
              <a:spcAft>
                <a:spcPts val="0"/>
              </a:spcAft>
              <a:buNone/>
            </a:pPr>
            <a:fld id="{00000000-1234-1234-1234-123412341234}" type="slidenum">
              <a:rPr lang="en" smtClean="0"/>
              <a:t>‹#›</a:t>
            </a:fld>
            <a:endParaRPr lang="en"/>
          </a:p>
        </p:txBody>
      </p:sp>
      <p:cxnSp>
        <p:nvCxnSpPr>
          <p:cNvPr id="10" name="Straight Connector 9"/>
          <p:cNvCxnSpPr/>
          <p:nvPr/>
        </p:nvCxnSpPr>
        <p:spPr>
          <a:xfrm>
            <a:off x="895149" y="1303384"/>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227840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dt="0"/>
  <p:txStyles>
    <p:titleStyle>
      <a:lvl1pPr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p:titleStyle>
    <p:bodyStyle>
      <a:lvl1pPr marL="68580" indent="-68580"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36" indent="-137160" algn="l" defTabSz="685800" rtl="0" eaLnBrk="1" latinLnBrk="0" hangingPunct="1">
        <a:lnSpc>
          <a:spcPct val="90000"/>
        </a:lnSpc>
        <a:spcBef>
          <a:spcPts val="150"/>
        </a:spcBef>
        <a:spcAft>
          <a:spcPts val="300"/>
        </a:spcAft>
        <a:buClr>
          <a:schemeClr val="accent1"/>
        </a:buClr>
        <a:buFont typeface="Calibri" pitchFamily="34" charset="0"/>
        <a:buChar char="◦"/>
        <a:defRPr sz="1350" kern="1200">
          <a:solidFill>
            <a:schemeClr val="tx1">
              <a:lumMod val="75000"/>
              <a:lumOff val="25000"/>
            </a:schemeClr>
          </a:solidFill>
          <a:latin typeface="+mn-lt"/>
          <a:ea typeface="+mn-ea"/>
          <a:cs typeface="+mn-cs"/>
        </a:defRPr>
      </a:lvl2pPr>
      <a:lvl3pPr marL="42519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3pPr>
      <a:lvl4pPr marL="56235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4pPr>
      <a:lvl5pPr marL="69951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5pPr>
      <a:lvl6pPr marL="8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
          <p:cNvSpPr txBox="1">
            <a:spLocks noGrp="1"/>
          </p:cNvSpPr>
          <p:nvPr>
            <p:ph type="ctr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262626"/>
              </a:buClr>
              <a:buSzPts val="6000"/>
              <a:buFont typeface="Calibri"/>
              <a:buNone/>
            </a:pPr>
            <a:r>
              <a:rPr lang="en" dirty="0"/>
              <a:t>CHCCA Treasurer’s Report</a:t>
            </a:r>
            <a:endParaRPr dirty="0"/>
          </a:p>
        </p:txBody>
      </p:sp>
      <p:sp>
        <p:nvSpPr>
          <p:cNvPr id="106" name="Google Shape;106;p1"/>
          <p:cNvSpPr txBox="1">
            <a:spLocks noGrp="1"/>
          </p:cNvSpPr>
          <p:nvPr>
            <p:ph type="subTitle" idx="1"/>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800"/>
              <a:buNone/>
            </a:pPr>
            <a:r>
              <a:rPr lang="en" dirty="0"/>
              <a:t>October 19, 2024</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
          <p:cNvSpPr txBox="1">
            <a:spLocks noGrp="1"/>
          </p:cNvSpPr>
          <p:nvPr>
            <p:ph type="title"/>
          </p:nvPr>
        </p:nvSpPr>
        <p:spPr>
          <a:prstGeom prst="rect">
            <a:avLst/>
          </a:prstGeom>
          <a:noFill/>
          <a:ln>
            <a:noFill/>
          </a:ln>
        </p:spPr>
        <p:txBody>
          <a:bodyPr spcFirstLastPara="1" wrap="square" lIns="91425" tIns="91425" rIns="91425" bIns="91425" anchor="t" anchorCtr="0">
            <a:normAutofit fontScale="90000"/>
          </a:bodyPr>
          <a:lstStyle/>
          <a:p>
            <a:pPr marL="0" lvl="0" indent="0" algn="l" rtl="0">
              <a:lnSpc>
                <a:spcPct val="85000"/>
              </a:lnSpc>
              <a:spcBef>
                <a:spcPts val="0"/>
              </a:spcBef>
              <a:spcAft>
                <a:spcPts val="0"/>
              </a:spcAft>
              <a:buClr>
                <a:srgbClr val="3F3F3F"/>
              </a:buClr>
              <a:buSzPct val="98765"/>
              <a:buFont typeface="Calibri"/>
              <a:buNone/>
            </a:pPr>
            <a:r>
              <a:rPr lang="en"/>
              <a:t>Agenda</a:t>
            </a:r>
            <a:endParaRPr/>
          </a:p>
        </p:txBody>
      </p:sp>
      <p:sp>
        <p:nvSpPr>
          <p:cNvPr id="112" name="Google Shape;112;p2"/>
          <p:cNvSpPr txBox="1">
            <a:spLocks noGrp="1"/>
          </p:cNvSpPr>
          <p:nvPr>
            <p:ph type="body" idx="1"/>
          </p:nvPr>
        </p:nvSpPr>
        <p:spPr>
          <a:xfrm>
            <a:off x="311700" y="1341672"/>
            <a:ext cx="8520600" cy="2460155"/>
          </a:xfrm>
          <a:prstGeom prst="rect">
            <a:avLst/>
          </a:prstGeom>
          <a:noFill/>
          <a:ln>
            <a:noFill/>
          </a:ln>
        </p:spPr>
        <p:txBody>
          <a:bodyPr spcFirstLastPara="1" wrap="square" lIns="91425" tIns="91425" rIns="91425" bIns="91425" anchor="t" anchorCtr="0">
            <a:normAutofit/>
          </a:bodyPr>
          <a:lstStyle/>
          <a:p>
            <a:pPr marL="457200" lvl="0" indent="-342900" algn="l" rtl="0">
              <a:lnSpc>
                <a:spcPct val="120000"/>
              </a:lnSpc>
              <a:spcBef>
                <a:spcPts val="0"/>
              </a:spcBef>
              <a:spcAft>
                <a:spcPts val="0"/>
              </a:spcAft>
              <a:buSzPts val="1800"/>
              <a:buChar char="●"/>
            </a:pPr>
            <a:r>
              <a:rPr lang="en" dirty="0"/>
              <a:t>Highlights of FY24</a:t>
            </a:r>
            <a:endParaRPr dirty="0"/>
          </a:p>
          <a:p>
            <a:pPr marL="457200" lvl="0" indent="-342900" algn="l" rtl="0">
              <a:lnSpc>
                <a:spcPct val="120000"/>
              </a:lnSpc>
              <a:spcBef>
                <a:spcPts val="0"/>
              </a:spcBef>
              <a:spcAft>
                <a:spcPts val="0"/>
              </a:spcAft>
              <a:buSzPts val="1800"/>
              <a:buChar char="●"/>
            </a:pPr>
            <a:r>
              <a:rPr lang="en" dirty="0"/>
              <a:t>Statement of Activities and Changes in Net Cash Balances (note – we have not yet had a sense of the value of our units/property for a true financial asset assessment)</a:t>
            </a:r>
            <a:endParaRPr dirty="0"/>
          </a:p>
          <a:p>
            <a:pPr marL="457200" lvl="0" indent="-342900" algn="l" rtl="0">
              <a:lnSpc>
                <a:spcPct val="120000"/>
              </a:lnSpc>
              <a:spcBef>
                <a:spcPts val="0"/>
              </a:spcBef>
              <a:spcAft>
                <a:spcPts val="0"/>
              </a:spcAft>
              <a:buSzPts val="1800"/>
              <a:buChar char="●"/>
            </a:pPr>
            <a:r>
              <a:rPr lang="en" dirty="0"/>
              <a:t>Proposed FY25 Budget (10/1/2024 - 9/30/2025)</a:t>
            </a:r>
            <a:endParaRPr dirty="0"/>
          </a:p>
          <a:p>
            <a:pPr marL="457200" lvl="0" indent="-228600" algn="l" rtl="0">
              <a:lnSpc>
                <a:spcPct val="90000"/>
              </a:lnSpc>
              <a:spcBef>
                <a:spcPts val="0"/>
              </a:spcBef>
              <a:spcAft>
                <a:spcPts val="0"/>
              </a:spcAft>
              <a:buSzPts val="1800"/>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pic>
        <p:nvPicPr>
          <p:cNvPr id="7" name="Picture 6">
            <a:extLst>
              <a:ext uri="{FF2B5EF4-FFF2-40B4-BE49-F238E27FC236}">
                <a16:creationId xmlns:a16="http://schemas.microsoft.com/office/drawing/2014/main" id="{E49F03CD-60C1-5491-1375-AAEEB2960AE6}"/>
              </a:ext>
            </a:extLst>
          </p:cNvPr>
          <p:cNvPicPr>
            <a:picLocks noChangeAspect="1"/>
          </p:cNvPicPr>
          <p:nvPr/>
        </p:nvPicPr>
        <p:blipFill>
          <a:blip r:embed="rId3"/>
          <a:stretch>
            <a:fillRect/>
          </a:stretch>
        </p:blipFill>
        <p:spPr>
          <a:xfrm>
            <a:off x="2604278" y="0"/>
            <a:ext cx="3935444" cy="483130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3"/>
          <p:cNvSpPr txBox="1">
            <a:spLocks noGrp="1"/>
          </p:cNvSpPr>
          <p:nvPr>
            <p:ph type="title"/>
          </p:nvPr>
        </p:nvSpPr>
        <p:spPr>
          <a:prstGeom prst="rect">
            <a:avLst/>
          </a:prstGeom>
          <a:noFill/>
          <a:ln>
            <a:noFill/>
          </a:ln>
        </p:spPr>
        <p:txBody>
          <a:bodyPr spcFirstLastPara="1" wrap="square" lIns="91425" tIns="91425" rIns="91425" bIns="91425" anchor="t" anchorCtr="0">
            <a:normAutofit fontScale="90000"/>
          </a:bodyPr>
          <a:lstStyle/>
          <a:p>
            <a:pPr marL="0" lvl="0" indent="0" algn="l" rtl="0">
              <a:lnSpc>
                <a:spcPct val="85000"/>
              </a:lnSpc>
              <a:spcBef>
                <a:spcPts val="0"/>
              </a:spcBef>
              <a:spcAft>
                <a:spcPts val="0"/>
              </a:spcAft>
              <a:buClr>
                <a:srgbClr val="3F3F3F"/>
              </a:buClr>
              <a:buSzPct val="98765"/>
              <a:buFont typeface="Calibri"/>
              <a:buNone/>
            </a:pPr>
            <a:r>
              <a:rPr lang="en" dirty="0"/>
              <a:t>Financial Highlights from FY24</a:t>
            </a:r>
            <a:endParaRPr dirty="0"/>
          </a:p>
        </p:txBody>
      </p:sp>
      <p:sp>
        <p:nvSpPr>
          <p:cNvPr id="118" name="Google Shape;118;p3"/>
          <p:cNvSpPr txBox="1">
            <a:spLocks noGrp="1"/>
          </p:cNvSpPr>
          <p:nvPr>
            <p:ph type="body" idx="1"/>
          </p:nvPr>
        </p:nvSpPr>
        <p:spPr>
          <a:xfrm>
            <a:off x="311700" y="818866"/>
            <a:ext cx="8520600" cy="3750009"/>
          </a:xfrm>
          <a:prstGeom prst="rect">
            <a:avLst/>
          </a:prstGeom>
          <a:noFill/>
          <a:ln>
            <a:noFill/>
          </a:ln>
        </p:spPr>
        <p:txBody>
          <a:bodyPr spcFirstLastPara="1" wrap="square" lIns="91425" tIns="91425" rIns="91425" bIns="91425" anchor="t" anchorCtr="0">
            <a:normAutofit/>
          </a:bodyPr>
          <a:lstStyle/>
          <a:p>
            <a:pPr marL="514350" lvl="0" indent="-285750" algn="l" rtl="0">
              <a:lnSpc>
                <a:spcPct val="90000"/>
              </a:lnSpc>
              <a:spcBef>
                <a:spcPts val="0"/>
              </a:spcBef>
              <a:spcAft>
                <a:spcPts val="0"/>
              </a:spcAft>
              <a:buSzPts val="1946"/>
              <a:buChar char="●"/>
            </a:pPr>
            <a:r>
              <a:rPr lang="en" dirty="0"/>
              <a:t>All condo fees were collected (a small portion this year’s collected end of last FY)</a:t>
            </a:r>
            <a:endParaRPr dirty="0"/>
          </a:p>
          <a:p>
            <a:pPr marL="514350" lvl="0" indent="-285750" algn="l" rtl="0">
              <a:lnSpc>
                <a:spcPct val="90000"/>
              </a:lnSpc>
              <a:spcBef>
                <a:spcPts val="0"/>
              </a:spcBef>
              <a:spcAft>
                <a:spcPts val="0"/>
              </a:spcAft>
              <a:buSzPts val="1946"/>
              <a:buChar char="●"/>
            </a:pPr>
            <a:r>
              <a:rPr lang="en" u="sng" dirty="0"/>
              <a:t>Insurance</a:t>
            </a:r>
            <a:r>
              <a:rPr lang="en" dirty="0"/>
              <a:t>, which went up 18% between FY23 and FY24 has just gone up 26%</a:t>
            </a:r>
          </a:p>
          <a:p>
            <a:pPr marL="971550" lvl="1" indent="-285750">
              <a:buSzPts val="1946"/>
              <a:buChar char="●"/>
            </a:pPr>
            <a:r>
              <a:rPr lang="en" dirty="0"/>
              <a:t>Per our broker, we should expect at least another 26% increase or more FY26 and years beyond. </a:t>
            </a:r>
          </a:p>
          <a:p>
            <a:pPr marL="971550" lvl="1" indent="-285750">
              <a:buSzPts val="1946"/>
              <a:buChar char="●"/>
            </a:pPr>
            <a:r>
              <a:rPr lang="en" dirty="0"/>
              <a:t>Regarding our current coverage. $3.26M. Each unit has a cap based on a contractor assessment of value for the upper cottages, a plug for the SLW units and all cut back a bit to keep us under the $3.26M amount. We had budgeted $2K to have the cottages valued but we did not do this. We are proposing it for this FY. (We will also see where the values come out using our broker’s valuation algorithm). It is recommended that we have a contractor value all of them since it was last done in 2022 AND our current coverage is capped by unit and it is not clear how much below value each cap might be. We are also getting a quote for an overall increase in our coverage if this total and the caps by cottage are too low.</a:t>
            </a:r>
          </a:p>
          <a:p>
            <a:pPr marL="971550" lvl="1" indent="-285750">
              <a:buSzPts val="1946"/>
              <a:buChar char="●"/>
            </a:pPr>
            <a:r>
              <a:rPr lang="en-US" dirty="0"/>
              <a:t>Our broker says to anticipate major increases – we budgeted 8500/YR each year.</a:t>
            </a:r>
            <a:endParaRPr dirty="0"/>
          </a:p>
          <a:p>
            <a:pPr marL="514350" lvl="0" indent="-285750" algn="l" rtl="0">
              <a:lnSpc>
                <a:spcPct val="90000"/>
              </a:lnSpc>
              <a:spcBef>
                <a:spcPts val="0"/>
              </a:spcBef>
              <a:spcAft>
                <a:spcPts val="0"/>
              </a:spcAft>
              <a:buSzPts val="1946"/>
              <a:buChar char="●"/>
            </a:pPr>
            <a:r>
              <a:rPr lang="en-US" dirty="0"/>
              <a:t>Our gas and electric estimates continue to be a bit off and flip flop and we are not sure why.</a:t>
            </a:r>
          </a:p>
          <a:p>
            <a:pPr marL="514350" lvl="0" indent="-285750" algn="l" rtl="0">
              <a:lnSpc>
                <a:spcPct val="90000"/>
              </a:lnSpc>
              <a:spcBef>
                <a:spcPts val="0"/>
              </a:spcBef>
              <a:spcAft>
                <a:spcPts val="0"/>
              </a:spcAft>
              <a:buSzPts val="1946"/>
              <a:buChar char="●"/>
            </a:pPr>
            <a:r>
              <a:rPr lang="en" dirty="0"/>
              <a:t>Water sampling – we have a new company Welltapped and Toby negotiated a good rate</a:t>
            </a:r>
            <a:endParaRPr dirty="0"/>
          </a:p>
          <a:p>
            <a:pPr marL="514350" lvl="0" indent="-285750" algn="l" rtl="0">
              <a:lnSpc>
                <a:spcPct val="90000"/>
              </a:lnSpc>
              <a:spcBef>
                <a:spcPts val="0"/>
              </a:spcBef>
              <a:spcAft>
                <a:spcPts val="0"/>
              </a:spcAft>
              <a:buSzPts val="1946"/>
              <a:buChar char="●"/>
            </a:pPr>
            <a:r>
              <a:rPr lang="en" dirty="0"/>
              <a:t>Special project spending was down but misleading as the budgeted handrail extension on the beach stairs was not done.</a:t>
            </a:r>
          </a:p>
          <a:p>
            <a:pPr marL="514350" lvl="0" indent="-285750" algn="l" rtl="0">
              <a:lnSpc>
                <a:spcPct val="90000"/>
              </a:lnSpc>
              <a:spcBef>
                <a:spcPts val="0"/>
              </a:spcBef>
              <a:spcAft>
                <a:spcPts val="0"/>
              </a:spcAft>
              <a:buSzPts val="1946"/>
              <a:buChar char="●"/>
            </a:pPr>
            <a:r>
              <a:rPr lang="en" dirty="0"/>
              <a:t>Miscellaneous also slightly lower than projected but this was primarily due to too much of a bump up last year after we had paid to replace fire extinguishers and the costs came back down.</a:t>
            </a:r>
            <a:endParaRPr dirty="0"/>
          </a:p>
          <a:p>
            <a:pPr marL="514350" lvl="0" indent="-285750" algn="l" rtl="0">
              <a:lnSpc>
                <a:spcPct val="90000"/>
              </a:lnSpc>
              <a:spcBef>
                <a:spcPts val="0"/>
              </a:spcBef>
              <a:spcAft>
                <a:spcPts val="0"/>
              </a:spcAft>
              <a:buSzPts val="1946"/>
              <a:buChar char="●"/>
            </a:pPr>
            <a:r>
              <a:rPr lang="en-US" dirty="0"/>
              <a:t>Overall, given the budgeted items we did not purchase our budget was just about right on.</a:t>
            </a:r>
            <a:endParaRPr dirty="0"/>
          </a:p>
          <a:p>
            <a:pPr marL="514350" lvl="0" indent="-162183" algn="l" rtl="0">
              <a:lnSpc>
                <a:spcPct val="90000"/>
              </a:lnSpc>
              <a:spcBef>
                <a:spcPts val="0"/>
              </a:spcBef>
              <a:spcAft>
                <a:spcPts val="0"/>
              </a:spcAft>
              <a:buSzPts val="1946"/>
              <a:buNone/>
            </a:pPr>
            <a:endParaRPr dirty="0"/>
          </a:p>
          <a:p>
            <a:pPr marL="514350" lvl="0" indent="-162183" algn="l" rtl="0">
              <a:lnSpc>
                <a:spcPct val="90000"/>
              </a:lnSpc>
              <a:spcBef>
                <a:spcPts val="0"/>
              </a:spcBef>
              <a:spcAft>
                <a:spcPts val="0"/>
              </a:spcAft>
              <a:buSzPts val="1946"/>
              <a:buNone/>
            </a:pP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2" name="Title 1">
            <a:extLst>
              <a:ext uri="{FF2B5EF4-FFF2-40B4-BE49-F238E27FC236}">
                <a16:creationId xmlns:a16="http://schemas.microsoft.com/office/drawing/2014/main" id="{B5F28358-104F-139B-A636-6E77FE2FEE3E}"/>
              </a:ext>
            </a:extLst>
          </p:cNvPr>
          <p:cNvSpPr>
            <a:spLocks noGrp="1"/>
          </p:cNvSpPr>
          <p:nvPr>
            <p:ph type="title"/>
          </p:nvPr>
        </p:nvSpPr>
        <p:spPr>
          <a:xfrm>
            <a:off x="311700" y="391350"/>
            <a:ext cx="8723118" cy="626100"/>
          </a:xfrm>
        </p:spPr>
        <p:txBody>
          <a:bodyPr>
            <a:noAutofit/>
          </a:bodyPr>
          <a:lstStyle/>
          <a:p>
            <a:r>
              <a:rPr lang="en-US" sz="2800" dirty="0"/>
              <a:t>Proposed New and Necessary Expenses &amp; Line Changes</a:t>
            </a:r>
          </a:p>
        </p:txBody>
      </p:sp>
      <p:sp>
        <p:nvSpPr>
          <p:cNvPr id="3" name="Text Placeholder 2">
            <a:extLst>
              <a:ext uri="{FF2B5EF4-FFF2-40B4-BE49-F238E27FC236}">
                <a16:creationId xmlns:a16="http://schemas.microsoft.com/office/drawing/2014/main" id="{78EEB7EF-0375-4D1B-83C4-39F070ADB32D}"/>
              </a:ext>
            </a:extLst>
          </p:cNvPr>
          <p:cNvSpPr>
            <a:spLocks noGrp="1"/>
          </p:cNvSpPr>
          <p:nvPr>
            <p:ph type="body" idx="1"/>
          </p:nvPr>
        </p:nvSpPr>
        <p:spPr>
          <a:xfrm>
            <a:off x="311700" y="955343"/>
            <a:ext cx="8520600" cy="3678072"/>
          </a:xfrm>
        </p:spPr>
        <p:txBody>
          <a:bodyPr>
            <a:normAutofit lnSpcReduction="10000"/>
          </a:bodyPr>
          <a:lstStyle/>
          <a:p>
            <a:r>
              <a:rPr lang="en-US" dirty="0"/>
              <a:t>Tony of On Time Property Management has Requested a raise of $200/month and we have included this in the budget. We had paid $12,000 annually and the increase raises his routine maintenance for the year to $14,400. We believe that while it reflects a 5% increase per year – we think that it is a </a:t>
            </a:r>
            <a:r>
              <a:rPr lang="en-US" dirty="0" err="1"/>
              <a:t>reasonabl</a:t>
            </a:r>
            <a:r>
              <a:rPr lang="en-US" dirty="0"/>
              <a:t> request and we would like to honor it for the following reasons:</a:t>
            </a:r>
          </a:p>
          <a:p>
            <a:pPr lvl="1"/>
            <a:r>
              <a:rPr lang="en-US" dirty="0"/>
              <a:t>Tony has been extremely hard working and dependable and after the first year when we needed to prompt him to provide his time and checklist, he has provided this </a:t>
            </a:r>
            <a:r>
              <a:rPr lang="en-US" dirty="0" err="1"/>
              <a:t>reqularly</a:t>
            </a:r>
            <a:r>
              <a:rPr lang="en-US" dirty="0"/>
              <a:t>.</a:t>
            </a:r>
          </a:p>
          <a:p>
            <a:pPr lvl="1"/>
            <a:r>
              <a:rPr lang="en-US" dirty="0"/>
              <a:t>We believe that his price is quite reasonable and see no need nor have no desire to try out a new unknown entity.</a:t>
            </a:r>
          </a:p>
          <a:p>
            <a:pPr lvl="1"/>
            <a:r>
              <a:rPr lang="en-US" dirty="0"/>
              <a:t>In addition, he has not had a raise in four years and agreed on the rate that we are paying him now after initially seeking more.</a:t>
            </a:r>
          </a:p>
          <a:p>
            <a:pPr lvl="1"/>
            <a:r>
              <a:rPr lang="en-US" dirty="0"/>
              <a:t>Also, he regularly incurs expenses overseeing the opening and closings that are not technically billed for and his help has been incredibly important.</a:t>
            </a:r>
          </a:p>
          <a:p>
            <a:r>
              <a:rPr lang="en-US" dirty="0"/>
              <a:t>We have perceived that the practice of having two lines for maintenance and repairs and supplies seems unnecessary so we have combined the lines. Also, our total for these items is about $500 less this coming year.</a:t>
            </a:r>
          </a:p>
          <a:p>
            <a:r>
              <a:rPr lang="en-US" dirty="0"/>
              <a:t>Insurance costs are climbing exponentially and we no longer have sufficient funds in the bank or in what we collect with our current condo fees and thus we have built in condo fee increases into the budget. We have projected our financial situation out three years in anticipation of steady increases and have prepared three possible scenarios for us to discuss. We have to have an increase in FY25.</a:t>
            </a:r>
          </a:p>
          <a:p>
            <a:pPr lvl="1"/>
            <a:endParaRPr lang="en-US" dirty="0"/>
          </a:p>
        </p:txBody>
      </p:sp>
    </p:spTree>
    <p:extLst>
      <p:ext uri="{BB962C8B-B14F-4D97-AF65-F5344CB8AC3E}">
        <p14:creationId xmlns:p14="http://schemas.microsoft.com/office/powerpoint/2010/main" val="18024800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B779717-72EF-0971-868C-21B08ACBA44A}"/>
              </a:ext>
            </a:extLst>
          </p:cNvPr>
          <p:cNvSpPr>
            <a:spLocks noGrp="1"/>
          </p:cNvSpPr>
          <p:nvPr>
            <p:ph type="title"/>
          </p:nvPr>
        </p:nvSpPr>
        <p:spPr>
          <a:xfrm>
            <a:off x="248405" y="144833"/>
            <a:ext cx="8376980" cy="174303"/>
          </a:xfrm>
        </p:spPr>
        <p:txBody>
          <a:bodyPr>
            <a:noAutofit/>
          </a:bodyPr>
          <a:lstStyle/>
          <a:p>
            <a:pPr algn="ctr"/>
            <a:r>
              <a:rPr lang="en-US" sz="1200" b="1" dirty="0"/>
              <a:t>Condo Fee Increase Proposals in Anticipation of Significant Insurance Increases And Associated FY 25 Budget Proposals</a:t>
            </a:r>
            <a:endParaRPr lang="en-US" sz="1200" dirty="0"/>
          </a:p>
        </p:txBody>
      </p:sp>
      <p:pic>
        <p:nvPicPr>
          <p:cNvPr id="7" name="Picture 6">
            <a:extLst>
              <a:ext uri="{FF2B5EF4-FFF2-40B4-BE49-F238E27FC236}">
                <a16:creationId xmlns:a16="http://schemas.microsoft.com/office/drawing/2014/main" id="{6A5288E0-9F87-D3AA-9CC0-E5C28070A0A2}"/>
              </a:ext>
            </a:extLst>
          </p:cNvPr>
          <p:cNvPicPr>
            <a:picLocks noChangeAspect="1"/>
          </p:cNvPicPr>
          <p:nvPr/>
        </p:nvPicPr>
        <p:blipFill>
          <a:blip r:embed="rId2"/>
          <a:stretch>
            <a:fillRect/>
          </a:stretch>
        </p:blipFill>
        <p:spPr>
          <a:xfrm>
            <a:off x="2259971" y="291868"/>
            <a:ext cx="4624057" cy="4851632"/>
          </a:xfrm>
          <a:prstGeom prst="rect">
            <a:avLst/>
          </a:prstGeom>
        </p:spPr>
      </p:pic>
    </p:spTree>
    <p:extLst>
      <p:ext uri="{BB962C8B-B14F-4D97-AF65-F5344CB8AC3E}">
        <p14:creationId xmlns:p14="http://schemas.microsoft.com/office/powerpoint/2010/main" val="4048980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9B1CD390-AAE5-F730-B184-C6922EEBAE6D}"/>
              </a:ext>
            </a:extLst>
          </p:cNvPr>
          <p:cNvGraphicFramePr>
            <a:graphicFrameLocks noGrp="1"/>
          </p:cNvGraphicFramePr>
          <p:nvPr>
            <p:extLst>
              <p:ext uri="{D42A27DB-BD31-4B8C-83A1-F6EECF244321}">
                <p14:modId xmlns:p14="http://schemas.microsoft.com/office/powerpoint/2010/main" val="3637966547"/>
              </p:ext>
            </p:extLst>
          </p:nvPr>
        </p:nvGraphicFramePr>
        <p:xfrm>
          <a:off x="1009934" y="375374"/>
          <a:ext cx="7219664" cy="3893836"/>
        </p:xfrm>
        <a:graphic>
          <a:graphicData uri="http://schemas.openxmlformats.org/drawingml/2006/table">
            <a:tbl>
              <a:tblPr>
                <a:tableStyleId>{9DC8D6D1-470A-4AF7-8CCC-47941E2CDC6A}</a:tableStyleId>
              </a:tblPr>
              <a:tblGrid>
                <a:gridCol w="1280424">
                  <a:extLst>
                    <a:ext uri="{9D8B030D-6E8A-4147-A177-3AD203B41FA5}">
                      <a16:colId xmlns:a16="http://schemas.microsoft.com/office/drawing/2014/main" val="4018826905"/>
                    </a:ext>
                  </a:extLst>
                </a:gridCol>
                <a:gridCol w="391427">
                  <a:extLst>
                    <a:ext uri="{9D8B030D-6E8A-4147-A177-3AD203B41FA5}">
                      <a16:colId xmlns:a16="http://schemas.microsoft.com/office/drawing/2014/main" val="3828435958"/>
                    </a:ext>
                  </a:extLst>
                </a:gridCol>
                <a:gridCol w="366007">
                  <a:extLst>
                    <a:ext uri="{9D8B030D-6E8A-4147-A177-3AD203B41FA5}">
                      <a16:colId xmlns:a16="http://schemas.microsoft.com/office/drawing/2014/main" val="2968251726"/>
                    </a:ext>
                  </a:extLst>
                </a:gridCol>
                <a:gridCol w="1415026">
                  <a:extLst>
                    <a:ext uri="{9D8B030D-6E8A-4147-A177-3AD203B41FA5}">
                      <a16:colId xmlns:a16="http://schemas.microsoft.com/office/drawing/2014/main" val="677879306"/>
                    </a:ext>
                  </a:extLst>
                </a:gridCol>
                <a:gridCol w="431969">
                  <a:extLst>
                    <a:ext uri="{9D8B030D-6E8A-4147-A177-3AD203B41FA5}">
                      <a16:colId xmlns:a16="http://schemas.microsoft.com/office/drawing/2014/main" val="3013170785"/>
                    </a:ext>
                  </a:extLst>
                </a:gridCol>
                <a:gridCol w="54102">
                  <a:extLst>
                    <a:ext uri="{9D8B030D-6E8A-4147-A177-3AD203B41FA5}">
                      <a16:colId xmlns:a16="http://schemas.microsoft.com/office/drawing/2014/main" val="1859572675"/>
                    </a:ext>
                  </a:extLst>
                </a:gridCol>
                <a:gridCol w="716856">
                  <a:extLst>
                    <a:ext uri="{9D8B030D-6E8A-4147-A177-3AD203B41FA5}">
                      <a16:colId xmlns:a16="http://schemas.microsoft.com/office/drawing/2014/main" val="3209193002"/>
                    </a:ext>
                  </a:extLst>
                </a:gridCol>
                <a:gridCol w="84160">
                  <a:extLst>
                    <a:ext uri="{9D8B030D-6E8A-4147-A177-3AD203B41FA5}">
                      <a16:colId xmlns:a16="http://schemas.microsoft.com/office/drawing/2014/main" val="144097005"/>
                    </a:ext>
                  </a:extLst>
                </a:gridCol>
                <a:gridCol w="541023">
                  <a:extLst>
                    <a:ext uri="{9D8B030D-6E8A-4147-A177-3AD203B41FA5}">
                      <a16:colId xmlns:a16="http://schemas.microsoft.com/office/drawing/2014/main" val="2409177920"/>
                    </a:ext>
                  </a:extLst>
                </a:gridCol>
                <a:gridCol w="54102">
                  <a:extLst>
                    <a:ext uri="{9D8B030D-6E8A-4147-A177-3AD203B41FA5}">
                      <a16:colId xmlns:a16="http://schemas.microsoft.com/office/drawing/2014/main" val="631368307"/>
                    </a:ext>
                  </a:extLst>
                </a:gridCol>
                <a:gridCol w="541023">
                  <a:extLst>
                    <a:ext uri="{9D8B030D-6E8A-4147-A177-3AD203B41FA5}">
                      <a16:colId xmlns:a16="http://schemas.microsoft.com/office/drawing/2014/main" val="3459453291"/>
                    </a:ext>
                  </a:extLst>
                </a:gridCol>
                <a:gridCol w="72137">
                  <a:extLst>
                    <a:ext uri="{9D8B030D-6E8A-4147-A177-3AD203B41FA5}">
                      <a16:colId xmlns:a16="http://schemas.microsoft.com/office/drawing/2014/main" val="952832833"/>
                    </a:ext>
                  </a:extLst>
                </a:gridCol>
                <a:gridCol w="595127">
                  <a:extLst>
                    <a:ext uri="{9D8B030D-6E8A-4147-A177-3AD203B41FA5}">
                      <a16:colId xmlns:a16="http://schemas.microsoft.com/office/drawing/2014/main" val="3416323774"/>
                    </a:ext>
                  </a:extLst>
                </a:gridCol>
                <a:gridCol w="49594">
                  <a:extLst>
                    <a:ext uri="{9D8B030D-6E8A-4147-A177-3AD203B41FA5}">
                      <a16:colId xmlns:a16="http://schemas.microsoft.com/office/drawing/2014/main" val="3382393662"/>
                    </a:ext>
                  </a:extLst>
                </a:gridCol>
                <a:gridCol w="626687">
                  <a:extLst>
                    <a:ext uri="{9D8B030D-6E8A-4147-A177-3AD203B41FA5}">
                      <a16:colId xmlns:a16="http://schemas.microsoft.com/office/drawing/2014/main" val="1640431575"/>
                    </a:ext>
                  </a:extLst>
                </a:gridCol>
              </a:tblGrid>
              <a:tr h="131650">
                <a:tc>
                  <a:txBody>
                    <a:bodyPr/>
                    <a:lstStyle/>
                    <a:p>
                      <a:pPr algn="l" fontAlgn="b"/>
                      <a:endParaRPr lang="en-US" sz="400" b="0" i="0" u="none" strike="noStrike" dirty="0">
                        <a:solidFill>
                          <a:srgbClr val="000000"/>
                        </a:solidFill>
                        <a:effectLst/>
                        <a:latin typeface="&quot;Aptos Narrow&quot;"/>
                      </a:endParaRPr>
                    </a:p>
                  </a:txBody>
                  <a:tcPr marL="0" marR="0" marT="0" marB="0" anchor="b"/>
                </a:tc>
                <a:tc>
                  <a:txBody>
                    <a:bodyPr/>
                    <a:lstStyle/>
                    <a:p>
                      <a:pPr algn="l" fontAlgn="b"/>
                      <a:endParaRPr lang="en-US" sz="400" b="0" i="0" u="none" strike="noStrike">
                        <a:solidFill>
                          <a:srgbClr val="000000"/>
                        </a:solidFill>
                        <a:effectLst/>
                        <a:latin typeface="&quot;Aptos Narrow&quot;"/>
                      </a:endParaRPr>
                    </a:p>
                  </a:txBody>
                  <a:tcPr marL="0" marR="0" marT="0" marB="0" anchor="b"/>
                </a:tc>
                <a:tc gridSpan="2">
                  <a:txBody>
                    <a:bodyPr/>
                    <a:lstStyle/>
                    <a:p>
                      <a:pPr algn="l" fontAlgn="b"/>
                      <a:r>
                        <a:rPr lang="en-US" sz="400" u="none" strike="noStrike">
                          <a:effectLst/>
                        </a:rPr>
                        <a:t> </a:t>
                      </a:r>
                      <a:endParaRPr lang="en-US" sz="400" b="0" i="0" u="none" strike="noStrike">
                        <a:solidFill>
                          <a:srgbClr val="000000"/>
                        </a:solidFill>
                        <a:effectLst/>
                        <a:latin typeface="&quot;Aptos Narrow&quot;"/>
                      </a:endParaRPr>
                    </a:p>
                  </a:txBody>
                  <a:tcPr marL="0" marR="0" marT="0" marB="0" anchor="b"/>
                </a:tc>
                <a:tc hMerge="1">
                  <a:txBody>
                    <a:bodyPr/>
                    <a:lstStyle/>
                    <a:p>
                      <a:pPr algn="l" fontAlgn="b"/>
                      <a:r>
                        <a:rPr lang="en-US" sz="400" u="none" strike="noStrike">
                          <a:effectLst/>
                        </a:rPr>
                        <a:t> </a:t>
                      </a:r>
                      <a:endParaRPr lang="en-US" sz="400" b="0" i="0" u="none" strike="noStrike">
                        <a:solidFill>
                          <a:srgbClr val="000000"/>
                        </a:solidFill>
                        <a:effectLst/>
                        <a:latin typeface="&quot;Aptos Narrow&quot;"/>
                      </a:endParaRPr>
                    </a:p>
                  </a:txBody>
                  <a:tcPr marL="0" marR="0" marT="0" marB="0" anchor="b"/>
                </a:tc>
                <a:tc gridSpan="3">
                  <a:txBody>
                    <a:bodyPr/>
                    <a:lstStyle/>
                    <a:p>
                      <a:pPr algn="ctr" fontAlgn="ctr"/>
                      <a:r>
                        <a:rPr lang="en-US" sz="600" u="none" strike="noStrike">
                          <a:effectLst/>
                        </a:rPr>
                        <a:t>Option 1 increase scenario</a:t>
                      </a:r>
                      <a:endParaRPr lang="en-US" sz="600" b="1" i="0" u="none" strike="noStrike">
                        <a:solidFill>
                          <a:srgbClr val="000000"/>
                        </a:solidFill>
                        <a:effectLst/>
                        <a:latin typeface="Calibri" panose="020F0502020204030204" pitchFamily="34" charset="0"/>
                      </a:endParaRPr>
                    </a:p>
                  </a:txBody>
                  <a:tcPr marL="0" marR="0" marT="0" marB="0" anchor="ctr"/>
                </a:tc>
                <a:tc hMerge="1">
                  <a:txBody>
                    <a:bodyPr/>
                    <a:lstStyle/>
                    <a:p>
                      <a:endParaRPr lang="en-US"/>
                    </a:p>
                  </a:txBody>
                  <a:tcPr/>
                </a:tc>
                <a:tc hMerge="1">
                  <a:txBody>
                    <a:bodyPr/>
                    <a:lstStyle/>
                    <a:p>
                      <a:endParaRPr lang="en-US"/>
                    </a:p>
                  </a:txBody>
                  <a:tcPr/>
                </a:tc>
                <a:tc>
                  <a:txBody>
                    <a:bodyPr/>
                    <a:lstStyle/>
                    <a:p>
                      <a:pPr algn="l"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gridSpan="3">
                  <a:txBody>
                    <a:bodyPr/>
                    <a:lstStyle/>
                    <a:p>
                      <a:pPr algn="ctr" fontAlgn="b"/>
                      <a:r>
                        <a:rPr lang="en-US" sz="600" u="none" strike="noStrike">
                          <a:effectLst/>
                        </a:rPr>
                        <a:t>Option2 increase scenario</a:t>
                      </a:r>
                      <a:endParaRPr lang="en-US" sz="600" b="1" i="0" u="none" strike="noStrike">
                        <a:solidFill>
                          <a:srgbClr val="000000"/>
                        </a:solidFill>
                        <a:effectLst/>
                        <a:latin typeface="Calibri" panose="020F0502020204030204" pitchFamily="34" charset="0"/>
                      </a:endParaRPr>
                    </a:p>
                  </a:txBody>
                  <a:tcPr marL="0" marR="0" marT="0" marB="0" anchor="b"/>
                </a:tc>
                <a:tc hMerge="1">
                  <a:txBody>
                    <a:bodyPr/>
                    <a:lstStyle/>
                    <a:p>
                      <a:endParaRPr lang="en-US"/>
                    </a:p>
                  </a:txBody>
                  <a:tcPr/>
                </a:tc>
                <a:tc hMerge="1">
                  <a:txBody>
                    <a:bodyPr/>
                    <a:lstStyle/>
                    <a:p>
                      <a:endParaRPr lang="en-US"/>
                    </a:p>
                  </a:txBody>
                  <a:tcPr/>
                </a:tc>
                <a:tc>
                  <a:txBody>
                    <a:bodyPr/>
                    <a:lstStyle/>
                    <a:p>
                      <a:pPr algn="l" fontAlgn="b"/>
                      <a:r>
                        <a:rPr lang="en-US" sz="600" u="none" strike="noStrike">
                          <a:effectLst/>
                        </a:rPr>
                        <a:t> </a:t>
                      </a:r>
                      <a:endParaRPr lang="en-US" sz="600" b="1" i="0" u="none" strike="noStrike">
                        <a:solidFill>
                          <a:srgbClr val="000000"/>
                        </a:solidFill>
                        <a:effectLst/>
                        <a:latin typeface="Calibri" panose="020F0502020204030204" pitchFamily="34" charset="0"/>
                      </a:endParaRPr>
                    </a:p>
                  </a:txBody>
                  <a:tcPr marL="0" marR="0" marT="0" marB="0" anchor="b"/>
                </a:tc>
                <a:tc gridSpan="3">
                  <a:txBody>
                    <a:bodyPr/>
                    <a:lstStyle/>
                    <a:p>
                      <a:pPr algn="ctr" fontAlgn="b"/>
                      <a:r>
                        <a:rPr lang="en-US" sz="600" u="none" strike="noStrike">
                          <a:effectLst/>
                        </a:rPr>
                        <a:t>Option 3 increase scenario</a:t>
                      </a:r>
                      <a:endParaRPr lang="en-US" sz="600" b="1" i="0" u="none" strike="noStrike">
                        <a:solidFill>
                          <a:srgbClr val="000000"/>
                        </a:solidFill>
                        <a:effectLst/>
                        <a:latin typeface="Calibri" panose="020F0502020204030204" pitchFamily="34" charset="0"/>
                      </a:endParaRPr>
                    </a:p>
                  </a:txBody>
                  <a:tcPr marL="0" marR="0" marT="0" marB="0" anchor="b"/>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40769528"/>
                  </a:ext>
                </a:extLst>
              </a:tr>
              <a:tr h="115364">
                <a:tc>
                  <a:txBody>
                    <a:bodyPr/>
                    <a:lstStyle/>
                    <a:p>
                      <a:pPr algn="l" fontAlgn="b"/>
                      <a:r>
                        <a:rPr lang="en-US" sz="600" u="none" strike="noStrike">
                          <a:effectLst/>
                        </a:rPr>
                        <a:t>Condo Fees (sum of Qrtly Pymts:)</a:t>
                      </a:r>
                      <a:endParaRPr lang="en-US" sz="600" b="1"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gridSpan="2">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hMerge="1">
                  <a:txBody>
                    <a:bodyPr/>
                    <a:lstStyle/>
                    <a:p>
                      <a:pPr algn="ctr" fontAlgn="b"/>
                      <a:r>
                        <a:rPr lang="en-US" sz="600" u="none" strike="noStrike">
                          <a:effectLst/>
                        </a:rPr>
                        <a:t> </a:t>
                      </a:r>
                      <a:endParaRPr lang="en-US" sz="600" b="1" i="0" u="none" strike="noStrike">
                        <a:solidFill>
                          <a:srgbClr val="000000"/>
                        </a:solidFill>
                        <a:effectLst/>
                        <a:latin typeface="Calibri" panose="020F0502020204030204" pitchFamily="34" charset="0"/>
                      </a:endParaRPr>
                    </a:p>
                  </a:txBody>
                  <a:tcPr marL="0" marR="0" marT="0" marB="0" anchor="b"/>
                </a:tc>
                <a:tc>
                  <a:txBody>
                    <a:bodyPr/>
                    <a:lstStyle/>
                    <a:p>
                      <a:pPr algn="ctr" fontAlgn="ctr"/>
                      <a:r>
                        <a:rPr lang="en-US" sz="600" u="none" strike="noStrike">
                          <a:effectLst/>
                        </a:rPr>
                        <a:t>FY26</a:t>
                      </a:r>
                      <a:endParaRPr lang="en-US" sz="600" b="1"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n-US" sz="600" u="none" strike="noStrike">
                          <a:effectLst/>
                        </a:rPr>
                        <a:t> </a:t>
                      </a:r>
                      <a:endParaRPr lang="en-US" sz="600" b="1" i="0" u="none" strike="noStrike">
                        <a:solidFill>
                          <a:srgbClr val="000000"/>
                        </a:solidFill>
                        <a:effectLst/>
                        <a:latin typeface="Calibri" panose="020F0502020204030204" pitchFamily="34" charset="0"/>
                      </a:endParaRPr>
                    </a:p>
                  </a:txBody>
                  <a:tcPr marL="0" marR="0" marT="0" marB="0" anchor="b"/>
                </a:tc>
                <a:tc>
                  <a:txBody>
                    <a:bodyPr/>
                    <a:lstStyle/>
                    <a:p>
                      <a:pPr algn="ctr" fontAlgn="ctr"/>
                      <a:r>
                        <a:rPr lang="en-US" sz="600" u="none" strike="noStrike">
                          <a:effectLst/>
                        </a:rPr>
                        <a:t>FY 27</a:t>
                      </a:r>
                      <a:endParaRPr lang="en-US" sz="600" b="1" i="0" u="none" strike="noStrike">
                        <a:solidFill>
                          <a:srgbClr val="000000"/>
                        </a:solidFill>
                        <a:effectLst/>
                        <a:latin typeface="&quot;Aptos Narrow&quot;"/>
                      </a:endParaRPr>
                    </a:p>
                  </a:txBody>
                  <a:tcPr marL="0" marR="0" marT="0" marB="0" anchor="ctr"/>
                </a:tc>
                <a:tc>
                  <a:txBody>
                    <a:bodyPr/>
                    <a:lstStyle/>
                    <a:p>
                      <a:pPr algn="ctr" fontAlgn="b"/>
                      <a:r>
                        <a:rPr lang="en-US" sz="600" u="none" strike="noStrike">
                          <a:effectLst/>
                        </a:rPr>
                        <a:t> </a:t>
                      </a:r>
                      <a:endParaRPr lang="en-US" sz="600" b="1" i="0" u="none" strike="noStrike">
                        <a:solidFill>
                          <a:srgbClr val="000000"/>
                        </a:solidFill>
                        <a:effectLst/>
                        <a:latin typeface="&quot;Aptos Narrow&quot;"/>
                      </a:endParaRPr>
                    </a:p>
                  </a:txBody>
                  <a:tcPr marL="0" marR="0" marT="0" marB="0" anchor="b"/>
                </a:tc>
                <a:tc>
                  <a:txBody>
                    <a:bodyPr/>
                    <a:lstStyle/>
                    <a:p>
                      <a:pPr algn="ctr" fontAlgn="b"/>
                      <a:r>
                        <a:rPr lang="en-US" sz="600" u="none" strike="noStrike">
                          <a:effectLst/>
                        </a:rPr>
                        <a:t>FY26</a:t>
                      </a:r>
                      <a:endParaRPr lang="en-US" sz="600" b="1"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US" sz="600" u="none" strike="noStrike">
                          <a:effectLst/>
                        </a:rPr>
                        <a:t> </a:t>
                      </a:r>
                      <a:endParaRPr lang="en-US" sz="600" b="1" i="0" u="none" strike="noStrike">
                        <a:solidFill>
                          <a:srgbClr val="000000"/>
                        </a:solidFill>
                        <a:effectLst/>
                        <a:latin typeface="Calibri" panose="020F0502020204030204" pitchFamily="34" charset="0"/>
                      </a:endParaRPr>
                    </a:p>
                  </a:txBody>
                  <a:tcPr marL="0" marR="0" marT="0" marB="0" anchor="b"/>
                </a:tc>
                <a:tc>
                  <a:txBody>
                    <a:bodyPr/>
                    <a:lstStyle/>
                    <a:p>
                      <a:pPr algn="ctr" fontAlgn="ctr"/>
                      <a:r>
                        <a:rPr lang="en-US" sz="600" u="none" strike="noStrike">
                          <a:effectLst/>
                        </a:rPr>
                        <a:t>FY 27</a:t>
                      </a:r>
                      <a:endParaRPr lang="en-US" sz="600" b="1" i="0" u="none" strike="noStrike">
                        <a:solidFill>
                          <a:srgbClr val="000000"/>
                        </a:solidFill>
                        <a:effectLst/>
                        <a:latin typeface="&quot;Aptos Narrow&quot;"/>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ctr" fontAlgn="ctr"/>
                      <a:r>
                        <a:rPr lang="en-US" sz="600" u="none" strike="noStrike">
                          <a:effectLst/>
                        </a:rPr>
                        <a:t>FY26</a:t>
                      </a:r>
                      <a:endParaRPr lang="en-US" sz="600" b="1"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n-US" sz="600" u="none" strike="noStrike">
                          <a:effectLst/>
                        </a:rPr>
                        <a:t> </a:t>
                      </a:r>
                      <a:endParaRPr lang="en-US" sz="600" b="1" i="0" u="none" strike="noStrike">
                        <a:solidFill>
                          <a:srgbClr val="000000"/>
                        </a:solidFill>
                        <a:effectLst/>
                        <a:latin typeface="Calibri" panose="020F0502020204030204" pitchFamily="34" charset="0"/>
                      </a:endParaRPr>
                    </a:p>
                  </a:txBody>
                  <a:tcPr marL="0" marR="0" marT="0" marB="0" anchor="b"/>
                </a:tc>
                <a:tc>
                  <a:txBody>
                    <a:bodyPr/>
                    <a:lstStyle/>
                    <a:p>
                      <a:pPr algn="ctr" fontAlgn="ctr"/>
                      <a:r>
                        <a:rPr lang="en-US" sz="600" u="none" strike="noStrike">
                          <a:effectLst/>
                        </a:rPr>
                        <a:t>FY 27</a:t>
                      </a:r>
                      <a:endParaRPr lang="en-US" sz="600" b="1" i="0" u="none" strike="noStrike">
                        <a:solidFill>
                          <a:srgbClr val="000000"/>
                        </a:solidFill>
                        <a:effectLst/>
                        <a:latin typeface="&quot;Aptos Narrow&quot;"/>
                      </a:endParaRPr>
                    </a:p>
                  </a:txBody>
                  <a:tcPr marL="0" marR="0" marT="0" marB="0" anchor="ctr"/>
                </a:tc>
                <a:extLst>
                  <a:ext uri="{0D108BD9-81ED-4DB2-BD59-A6C34878D82A}">
                    <a16:rowId xmlns:a16="http://schemas.microsoft.com/office/drawing/2014/main" val="1462633156"/>
                  </a:ext>
                </a:extLst>
              </a:tr>
              <a:tr h="115364">
                <a:tc>
                  <a:txBody>
                    <a:bodyPr/>
                    <a:lstStyle/>
                    <a:p>
                      <a:pPr algn="l"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600" u="none" strike="noStrike">
                          <a:effectLst/>
                        </a:rPr>
                        <a:t> </a:t>
                      </a:r>
                      <a:endParaRPr lang="en-US" sz="600" b="1" i="0" u="none" strike="noStrike">
                        <a:solidFill>
                          <a:srgbClr val="000000"/>
                        </a:solidFill>
                        <a:effectLst/>
                        <a:latin typeface="Calibri" panose="020F0502020204030204" pitchFamily="34" charset="0"/>
                      </a:endParaRPr>
                    </a:p>
                  </a:txBody>
                  <a:tcPr marL="0" marR="0" marT="0" marB="0" anchor="b"/>
                </a:tc>
                <a:tc gridSpan="2">
                  <a:txBody>
                    <a:bodyPr/>
                    <a:lstStyle/>
                    <a:p>
                      <a:pPr algn="l" fontAlgn="b"/>
                      <a:r>
                        <a:rPr lang="en-US" sz="600" u="none" strike="noStrike">
                          <a:effectLst/>
                        </a:rPr>
                        <a:t> </a:t>
                      </a:r>
                      <a:endParaRPr lang="en-US" sz="600" b="1" i="0" u="none" strike="noStrike">
                        <a:solidFill>
                          <a:srgbClr val="000000"/>
                        </a:solidFill>
                        <a:effectLst/>
                        <a:latin typeface="Calibri" panose="020F0502020204030204" pitchFamily="34" charset="0"/>
                      </a:endParaRPr>
                    </a:p>
                  </a:txBody>
                  <a:tcPr marL="0" marR="0" marT="0" marB="0" anchor="b"/>
                </a:tc>
                <a:tc hMerge="1">
                  <a:txBody>
                    <a:bodyPr/>
                    <a:lstStyle/>
                    <a:p>
                      <a:pPr algn="ctr" fontAlgn="b"/>
                      <a:r>
                        <a:rPr lang="en-US" sz="600" u="none" strike="noStrike">
                          <a:effectLst/>
                        </a:rPr>
                        <a:t> </a:t>
                      </a:r>
                      <a:endParaRPr lang="en-US" sz="600" b="1" i="0" u="none" strike="noStrike">
                        <a:solidFill>
                          <a:srgbClr val="000000"/>
                        </a:solidFill>
                        <a:effectLst/>
                        <a:latin typeface="Calibri" panose="020F0502020204030204" pitchFamily="34" charset="0"/>
                      </a:endParaRPr>
                    </a:p>
                  </a:txBody>
                  <a:tcPr marL="0" marR="0" marT="0" marB="0" anchor="b"/>
                </a:tc>
                <a:tc>
                  <a:txBody>
                    <a:bodyPr/>
                    <a:lstStyle/>
                    <a:p>
                      <a:pPr algn="ctr" fontAlgn="ctr"/>
                      <a:r>
                        <a:rPr lang="en-US" sz="600" u="none" strike="noStrike">
                          <a:effectLst/>
                        </a:rPr>
                        <a:t>$92,219</a:t>
                      </a:r>
                      <a:endParaRPr lang="en-US" sz="600" b="1"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n-US" sz="600" u="none" strike="noStrike">
                          <a:effectLst/>
                        </a:rPr>
                        <a:t> </a:t>
                      </a:r>
                      <a:endParaRPr lang="en-US" sz="600" b="1" i="0" u="none" strike="noStrike">
                        <a:solidFill>
                          <a:srgbClr val="000000"/>
                        </a:solidFill>
                        <a:effectLst/>
                        <a:latin typeface="Calibri" panose="020F0502020204030204" pitchFamily="34" charset="0"/>
                      </a:endParaRPr>
                    </a:p>
                  </a:txBody>
                  <a:tcPr marL="0" marR="0" marT="0" marB="0" anchor="b"/>
                </a:tc>
                <a:tc>
                  <a:txBody>
                    <a:bodyPr/>
                    <a:lstStyle/>
                    <a:p>
                      <a:pPr algn="ctr" fontAlgn="ctr"/>
                      <a:r>
                        <a:rPr lang="en-US" sz="600" u="none" strike="noStrike">
                          <a:effectLst/>
                        </a:rPr>
                        <a:t>$92,219</a:t>
                      </a:r>
                      <a:endParaRPr lang="en-US" sz="600" b="1"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n-US" sz="600" u="none" strike="noStrike">
                          <a:effectLst/>
                        </a:rPr>
                        <a:t> </a:t>
                      </a:r>
                      <a:endParaRPr lang="en-US" sz="600" b="1"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600" u="none" strike="noStrike">
                          <a:effectLst/>
                        </a:rPr>
                        <a:t>$100,003</a:t>
                      </a:r>
                      <a:endParaRPr lang="en-US" sz="600" b="1"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600" u="none" strike="noStrike">
                          <a:effectLst/>
                        </a:rPr>
                        <a:t> </a:t>
                      </a:r>
                      <a:endParaRPr lang="en-US" sz="600" b="1" i="0" u="none" strike="noStrike">
                        <a:solidFill>
                          <a:srgbClr val="000000"/>
                        </a:solidFill>
                        <a:effectLst/>
                        <a:latin typeface="Calibri" panose="020F0502020204030204" pitchFamily="34" charset="0"/>
                      </a:endParaRPr>
                    </a:p>
                  </a:txBody>
                  <a:tcPr marL="0" marR="0" marT="0" marB="0" anchor="b"/>
                </a:tc>
                <a:tc>
                  <a:txBody>
                    <a:bodyPr/>
                    <a:lstStyle/>
                    <a:p>
                      <a:pPr algn="r" fontAlgn="ctr"/>
                      <a:r>
                        <a:rPr lang="en-US" sz="600" u="none" strike="noStrike">
                          <a:effectLst/>
                        </a:rPr>
                        <a:t>$100,003</a:t>
                      </a:r>
                      <a:endParaRPr lang="en-US" sz="600" b="1" i="0" u="none" strike="noStrike">
                        <a:solidFill>
                          <a:srgbClr val="000000"/>
                        </a:solidFill>
                        <a:effectLst/>
                        <a:latin typeface="Calibri" panose="020F0502020204030204" pitchFamily="34" charset="0"/>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r" fontAlgn="ctr"/>
                      <a:r>
                        <a:rPr lang="en-US" sz="600" u="none" strike="noStrike">
                          <a:effectLst/>
                        </a:rPr>
                        <a:t>$112,219</a:t>
                      </a:r>
                      <a:endParaRPr lang="en-US" sz="600" b="1" i="0" u="none" strike="noStrike">
                        <a:solidFill>
                          <a:srgbClr val="000000"/>
                        </a:solidFill>
                        <a:effectLst/>
                        <a:latin typeface="Calibri" panose="020F0502020204030204" pitchFamily="34" charset="0"/>
                      </a:endParaRPr>
                    </a:p>
                  </a:txBody>
                  <a:tcPr marL="0" marR="0" marT="0" marB="0" anchor="ctr"/>
                </a:tc>
                <a:tc>
                  <a:txBody>
                    <a:bodyPr/>
                    <a:lstStyle/>
                    <a:p>
                      <a:pPr algn="l" fontAlgn="b"/>
                      <a:r>
                        <a:rPr lang="en-US" sz="600" u="none" strike="noStrike">
                          <a:effectLst/>
                        </a:rPr>
                        <a:t> </a:t>
                      </a:r>
                      <a:endParaRPr lang="en-US" sz="600" b="1" i="0" u="none" strike="noStrike">
                        <a:solidFill>
                          <a:srgbClr val="000000"/>
                        </a:solidFill>
                        <a:effectLst/>
                        <a:latin typeface="Calibri" panose="020F0502020204030204" pitchFamily="34" charset="0"/>
                      </a:endParaRPr>
                    </a:p>
                  </a:txBody>
                  <a:tcPr marL="0" marR="0" marT="0" marB="0" anchor="b"/>
                </a:tc>
                <a:tc>
                  <a:txBody>
                    <a:bodyPr/>
                    <a:lstStyle/>
                    <a:p>
                      <a:pPr algn="r" fontAlgn="ctr"/>
                      <a:r>
                        <a:rPr lang="en-US" sz="600" u="none" strike="noStrike">
                          <a:effectLst/>
                        </a:rPr>
                        <a:t>$112,219</a:t>
                      </a:r>
                      <a:endParaRPr lang="en-US" sz="600" b="1" i="0" u="none" strike="noStrike">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2008179998"/>
                  </a:ext>
                </a:extLst>
              </a:tr>
              <a:tr h="130819">
                <a:tc>
                  <a:txBody>
                    <a:bodyPr/>
                    <a:lstStyle/>
                    <a:p>
                      <a:pPr algn="l" fontAlgn="b"/>
                      <a:r>
                        <a:rPr lang="en-US" sz="600" u="none" strike="noStrike">
                          <a:effectLst/>
                        </a:rPr>
                        <a:t>Expenses</a:t>
                      </a:r>
                      <a:endParaRPr lang="en-US" sz="600" b="1" i="1"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gridSpan="2">
                  <a:txBody>
                    <a:bodyPr/>
                    <a:lstStyle/>
                    <a:p>
                      <a:pPr algn="l"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hMerge="1">
                  <a:txBody>
                    <a:bodyPr/>
                    <a:lstStyle/>
                    <a:p>
                      <a:pPr algn="l"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l" fontAlgn="ctr"/>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l" fontAlgn="ctr"/>
                      <a:r>
                        <a:rPr lang="en-US" sz="600" u="none" strike="noStrike">
                          <a:effectLst/>
                        </a:rPr>
                        <a:t> </a:t>
                      </a:r>
                      <a:endParaRPr lang="en-US" sz="600" b="0" i="0" u="none" strike="noStrike">
                        <a:solidFill>
                          <a:srgbClr val="000000"/>
                        </a:solidFill>
                        <a:effectLst/>
                        <a:latin typeface="&quot;Aptos Narrow&quot;"/>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l" fontAlgn="ctr"/>
                      <a:r>
                        <a:rPr lang="en-US" sz="600" u="none" strike="noStrike">
                          <a:effectLst/>
                        </a:rPr>
                        <a:t> </a:t>
                      </a:r>
                      <a:endParaRPr lang="en-US" sz="600" b="0" i="0" u="none" strike="noStrike">
                        <a:solidFill>
                          <a:srgbClr val="000000"/>
                        </a:solidFill>
                        <a:effectLst/>
                        <a:latin typeface="&quot;Aptos Narrow&quot;"/>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l" fontAlgn="ctr"/>
                      <a:r>
                        <a:rPr lang="en-US" sz="600" u="none" strike="noStrike">
                          <a:effectLst/>
                        </a:rPr>
                        <a:t> </a:t>
                      </a:r>
                      <a:endParaRPr lang="en-US" sz="600" b="0" i="0" u="none" strike="noStrike">
                        <a:solidFill>
                          <a:srgbClr val="000000"/>
                        </a:solidFill>
                        <a:effectLst/>
                        <a:latin typeface="&quot;Aptos Narrow&quot;"/>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l" fontAlgn="ctr"/>
                      <a:r>
                        <a:rPr lang="en-US" sz="600" u="none" strike="noStrike">
                          <a:effectLst/>
                        </a:rPr>
                        <a:t> </a:t>
                      </a:r>
                      <a:endParaRPr lang="en-US" sz="600" b="0" i="0" u="none" strike="noStrike">
                        <a:solidFill>
                          <a:srgbClr val="000000"/>
                        </a:solidFill>
                        <a:effectLst/>
                        <a:latin typeface="&quot;Aptos Narrow&quot;"/>
                      </a:endParaRPr>
                    </a:p>
                  </a:txBody>
                  <a:tcPr marL="0" marR="0" marT="0" marB="0" anchor="ctr"/>
                </a:tc>
                <a:extLst>
                  <a:ext uri="{0D108BD9-81ED-4DB2-BD59-A6C34878D82A}">
                    <a16:rowId xmlns:a16="http://schemas.microsoft.com/office/drawing/2014/main" val="725254415"/>
                  </a:ext>
                </a:extLst>
              </a:tr>
              <a:tr h="130819">
                <a:tc gridSpan="2">
                  <a:txBody>
                    <a:bodyPr/>
                    <a:lstStyle/>
                    <a:p>
                      <a:pPr algn="l" fontAlgn="b"/>
                      <a:r>
                        <a:rPr lang="en-US" sz="600" u="none" strike="noStrike">
                          <a:effectLst/>
                        </a:rPr>
                        <a:t>OnTime Property Mgt. LLC Monthly Fee (Tony Cleary)</a:t>
                      </a:r>
                      <a:endParaRPr lang="en-US" sz="600" b="1" i="0" u="none" strike="noStrike">
                        <a:solidFill>
                          <a:srgbClr val="000000"/>
                        </a:solidFill>
                        <a:effectLst/>
                        <a:latin typeface="Calibri" panose="020F0502020204030204" pitchFamily="34" charset="0"/>
                      </a:endParaRPr>
                    </a:p>
                  </a:txBody>
                  <a:tcPr marL="0" marR="0" marT="0" marB="0" anchor="b"/>
                </a:tc>
                <a:tc hMerge="1">
                  <a:txBody>
                    <a:bodyPr/>
                    <a:lstStyle/>
                    <a:p>
                      <a:endParaRPr lang="en-US"/>
                    </a:p>
                  </a:txBody>
                  <a:tcPr/>
                </a:tc>
                <a:tc gridSpan="2">
                  <a:txBody>
                    <a:bodyPr/>
                    <a:lstStyle/>
                    <a:p>
                      <a:pPr algn="l" fontAlgn="b"/>
                      <a:r>
                        <a:rPr lang="en-US" sz="600" u="none" strike="noStrike">
                          <a:effectLst/>
                        </a:rPr>
                        <a:t> </a:t>
                      </a:r>
                      <a:endParaRPr lang="en-US" sz="600" b="1" i="0" u="none" strike="noStrike">
                        <a:solidFill>
                          <a:srgbClr val="000000"/>
                        </a:solidFill>
                        <a:effectLst/>
                        <a:latin typeface="Calibri" panose="020F0502020204030204" pitchFamily="34" charset="0"/>
                      </a:endParaRPr>
                    </a:p>
                  </a:txBody>
                  <a:tcPr marL="0" marR="0" marT="0" marB="0" anchor="b"/>
                </a:tc>
                <a:tc hMerge="1">
                  <a:txBody>
                    <a:bodyPr/>
                    <a:lstStyle/>
                    <a:p>
                      <a:pPr algn="l"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ctr"/>
                      <a:r>
                        <a:rPr lang="en-US" sz="600" u="none" strike="noStrike">
                          <a:effectLst/>
                        </a:rPr>
                        <a:t>18,000.00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ctr"/>
                      <a:r>
                        <a:rPr lang="en-US" sz="600" u="none" strike="noStrike">
                          <a:effectLst/>
                        </a:rPr>
                        <a:t>18,000.00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US" sz="600" u="none" strike="noStrike">
                          <a:effectLst/>
                        </a:rPr>
                        <a:t>18,000.00</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ctr" fontAlgn="ctr"/>
                      <a:r>
                        <a:rPr lang="en-US" sz="600" u="none" strike="noStrike">
                          <a:effectLst/>
                        </a:rPr>
                        <a:t>18,000.00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ctr" fontAlgn="ctr"/>
                      <a:r>
                        <a:rPr lang="en-US" sz="600" u="none" strike="noStrike">
                          <a:effectLst/>
                        </a:rPr>
                        <a:t>18,000.00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ctr" fontAlgn="ctr"/>
                      <a:r>
                        <a:rPr lang="en-US" sz="600" u="none" strike="noStrike">
                          <a:effectLst/>
                        </a:rPr>
                        <a:t>18,000.00</a:t>
                      </a:r>
                      <a:endParaRPr lang="en-US" sz="600" b="0" i="0" u="none" strike="noStrike">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2536165680"/>
                  </a:ext>
                </a:extLst>
              </a:tr>
              <a:tr h="130819">
                <a:tc>
                  <a:txBody>
                    <a:bodyPr/>
                    <a:lstStyle/>
                    <a:p>
                      <a:pPr algn="r" fontAlgn="b"/>
                      <a:r>
                        <a:rPr lang="en-US" sz="600" u="none" strike="noStrike">
                          <a:effectLst/>
                        </a:rPr>
                        <a:t>Opening / Closings Plumbing</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gridSpan="2">
                  <a:txBody>
                    <a:bodyPr/>
                    <a:lstStyle/>
                    <a:p>
                      <a:pPr algn="l" fontAlgn="b"/>
                      <a:r>
                        <a:rPr lang="en-US" sz="600" u="none" strike="noStrike">
                          <a:effectLst/>
                        </a:rPr>
                        <a:t>$3,600</a:t>
                      </a:r>
                      <a:endParaRPr lang="en-US" sz="600" b="0" i="0" u="none" strike="noStrike">
                        <a:solidFill>
                          <a:srgbClr val="000000"/>
                        </a:solidFill>
                        <a:effectLst/>
                        <a:latin typeface="Calibri" panose="020F0502020204030204" pitchFamily="34" charset="0"/>
                      </a:endParaRPr>
                    </a:p>
                  </a:txBody>
                  <a:tcPr marL="0" marR="0" marT="0" marB="0" anchor="b"/>
                </a:tc>
                <a:tc hMerge="1">
                  <a:txBody>
                    <a:bodyPr/>
                    <a:lstStyle/>
                    <a:p>
                      <a:pPr algn="ctr" fontAlgn="b"/>
                      <a:r>
                        <a:rPr lang="en-US" sz="600" u="none" strike="noStrike">
                          <a:effectLst/>
                        </a:rPr>
                        <a:t>$3,600</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l" fontAlgn="ctr"/>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l" fontAlgn="ctr"/>
                      <a:r>
                        <a:rPr lang="en-US" sz="600" u="none" strike="noStrike">
                          <a:effectLst/>
                        </a:rPr>
                        <a:t> </a:t>
                      </a:r>
                      <a:endParaRPr lang="en-US" sz="600" b="0" i="0" u="none" strike="noStrike">
                        <a:solidFill>
                          <a:srgbClr val="000000"/>
                        </a:solidFill>
                        <a:effectLst/>
                        <a:latin typeface="&quot;Aptos Narrow&quot;"/>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l" fontAlgn="ctr"/>
                      <a:r>
                        <a:rPr lang="en-US" sz="600" u="none" strike="noStrike">
                          <a:effectLst/>
                        </a:rPr>
                        <a:t> </a:t>
                      </a:r>
                      <a:endParaRPr lang="en-US" sz="600" b="0" i="0" u="none" strike="noStrike">
                        <a:solidFill>
                          <a:srgbClr val="000000"/>
                        </a:solidFill>
                        <a:effectLst/>
                        <a:latin typeface="&quot;Aptos Narrow&quot;"/>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l" fontAlgn="ctr"/>
                      <a:r>
                        <a:rPr lang="en-US" sz="600" u="none" strike="noStrike">
                          <a:effectLst/>
                        </a:rPr>
                        <a:t> </a:t>
                      </a:r>
                      <a:endParaRPr lang="en-US" sz="600" b="0" i="0" u="none" strike="noStrike">
                        <a:solidFill>
                          <a:srgbClr val="000000"/>
                        </a:solidFill>
                        <a:effectLst/>
                        <a:latin typeface="&quot;Aptos Narrow&quot;"/>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l" fontAlgn="ctr"/>
                      <a:r>
                        <a:rPr lang="en-US" sz="600" u="none" strike="noStrike">
                          <a:effectLst/>
                        </a:rPr>
                        <a:t> </a:t>
                      </a:r>
                      <a:endParaRPr lang="en-US" sz="600" b="0" i="0" u="none" strike="noStrike">
                        <a:solidFill>
                          <a:srgbClr val="000000"/>
                        </a:solidFill>
                        <a:effectLst/>
                        <a:latin typeface="&quot;Aptos Narrow&quot;"/>
                      </a:endParaRPr>
                    </a:p>
                  </a:txBody>
                  <a:tcPr marL="0" marR="0" marT="0" marB="0" anchor="ctr"/>
                </a:tc>
                <a:extLst>
                  <a:ext uri="{0D108BD9-81ED-4DB2-BD59-A6C34878D82A}">
                    <a16:rowId xmlns:a16="http://schemas.microsoft.com/office/drawing/2014/main" val="974991605"/>
                  </a:ext>
                </a:extLst>
              </a:tr>
              <a:tr h="130819">
                <a:tc>
                  <a:txBody>
                    <a:bodyPr/>
                    <a:lstStyle/>
                    <a:p>
                      <a:pPr algn="r" fontAlgn="b"/>
                      <a:r>
                        <a:rPr lang="en-US" sz="600" u="none" strike="noStrike">
                          <a:effectLst/>
                        </a:rPr>
                        <a:t>Tony Cleary</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gridSpan="2">
                  <a:txBody>
                    <a:bodyPr/>
                    <a:lstStyle/>
                    <a:p>
                      <a:pPr algn="l" fontAlgn="b"/>
                      <a:r>
                        <a:rPr lang="en-US" sz="600" u="none" strike="noStrike">
                          <a:effectLst/>
                        </a:rPr>
                        <a:t>$14,400</a:t>
                      </a:r>
                      <a:endParaRPr lang="en-US" sz="600" b="0" i="0" u="none" strike="noStrike">
                        <a:solidFill>
                          <a:srgbClr val="000000"/>
                        </a:solidFill>
                        <a:effectLst/>
                        <a:latin typeface="Calibri" panose="020F0502020204030204" pitchFamily="34" charset="0"/>
                      </a:endParaRPr>
                    </a:p>
                  </a:txBody>
                  <a:tcPr marL="0" marR="0" marT="0" marB="0" anchor="b"/>
                </a:tc>
                <a:tc hMerge="1">
                  <a:txBody>
                    <a:bodyPr/>
                    <a:lstStyle/>
                    <a:p>
                      <a:pPr algn="ctr" fontAlgn="b"/>
                      <a:r>
                        <a:rPr lang="en-US" sz="600" u="none" strike="noStrike">
                          <a:effectLst/>
                        </a:rPr>
                        <a:t>$14,400</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l" fontAlgn="ctr"/>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l" fontAlgn="ctr"/>
                      <a:r>
                        <a:rPr lang="en-US" sz="600" u="none" strike="noStrike">
                          <a:effectLst/>
                        </a:rPr>
                        <a:t> </a:t>
                      </a:r>
                      <a:endParaRPr lang="en-US" sz="600" b="0" i="0" u="none" strike="noStrike">
                        <a:solidFill>
                          <a:srgbClr val="000000"/>
                        </a:solidFill>
                        <a:effectLst/>
                        <a:latin typeface="&quot;Aptos Narrow&quot;"/>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l" fontAlgn="ctr"/>
                      <a:r>
                        <a:rPr lang="en-US" sz="600" u="none" strike="noStrike">
                          <a:effectLst/>
                        </a:rPr>
                        <a:t> </a:t>
                      </a:r>
                      <a:endParaRPr lang="en-US" sz="600" b="0" i="0" u="none" strike="noStrike">
                        <a:solidFill>
                          <a:srgbClr val="000000"/>
                        </a:solidFill>
                        <a:effectLst/>
                        <a:latin typeface="&quot;Aptos Narrow&quot;"/>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l" fontAlgn="ctr"/>
                      <a:r>
                        <a:rPr lang="en-US" sz="600" u="none" strike="noStrike">
                          <a:effectLst/>
                        </a:rPr>
                        <a:t> </a:t>
                      </a:r>
                      <a:endParaRPr lang="en-US" sz="600" b="0" i="0" u="none" strike="noStrike">
                        <a:solidFill>
                          <a:srgbClr val="000000"/>
                        </a:solidFill>
                        <a:effectLst/>
                        <a:latin typeface="&quot;Aptos Narrow&quot;"/>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l" fontAlgn="ctr"/>
                      <a:r>
                        <a:rPr lang="en-US" sz="600" u="none" strike="noStrike">
                          <a:effectLst/>
                        </a:rPr>
                        <a:t> </a:t>
                      </a:r>
                      <a:endParaRPr lang="en-US" sz="600" b="0" i="0" u="none" strike="noStrike">
                        <a:solidFill>
                          <a:srgbClr val="000000"/>
                        </a:solidFill>
                        <a:effectLst/>
                        <a:latin typeface="&quot;Aptos Narrow&quot;"/>
                      </a:endParaRPr>
                    </a:p>
                  </a:txBody>
                  <a:tcPr marL="0" marR="0" marT="0" marB="0" anchor="ctr"/>
                </a:tc>
                <a:extLst>
                  <a:ext uri="{0D108BD9-81ED-4DB2-BD59-A6C34878D82A}">
                    <a16:rowId xmlns:a16="http://schemas.microsoft.com/office/drawing/2014/main" val="1986818100"/>
                  </a:ext>
                </a:extLst>
              </a:tr>
              <a:tr h="130819">
                <a:tc gridSpan="2">
                  <a:txBody>
                    <a:bodyPr/>
                    <a:lstStyle/>
                    <a:p>
                      <a:pPr algn="l" fontAlgn="b"/>
                      <a:r>
                        <a:rPr lang="en-US" sz="600" u="none" strike="noStrike">
                          <a:effectLst/>
                        </a:rPr>
                        <a:t>General Repairs/Maintenance/Supplies</a:t>
                      </a:r>
                      <a:endParaRPr lang="en-US" sz="600" b="0" i="0" u="none" strike="noStrike">
                        <a:solidFill>
                          <a:srgbClr val="000000"/>
                        </a:solidFill>
                        <a:effectLst/>
                        <a:latin typeface="Calibri" panose="020F0502020204030204" pitchFamily="34" charset="0"/>
                      </a:endParaRPr>
                    </a:p>
                  </a:txBody>
                  <a:tcPr marL="0" marR="0" marT="0" marB="0" anchor="b"/>
                </a:tc>
                <a:tc hMerge="1">
                  <a:txBody>
                    <a:bodyPr/>
                    <a:lstStyle/>
                    <a:p>
                      <a:endParaRPr lang="en-US"/>
                    </a:p>
                  </a:txBody>
                  <a:tcPr/>
                </a:tc>
                <a:tc gridSpan="2">
                  <a:txBody>
                    <a:bodyPr/>
                    <a:lstStyle/>
                    <a:p>
                      <a:pPr algn="l" fontAlgn="b"/>
                      <a:r>
                        <a:rPr lang="en-US" sz="600" u="none" strike="noStrike" dirty="0">
                          <a:effectLst/>
                        </a:rPr>
                        <a:t> </a:t>
                      </a:r>
                      <a:endParaRPr lang="en-US" sz="600" b="0" i="0" u="none" strike="noStrike" dirty="0">
                        <a:solidFill>
                          <a:srgbClr val="000000"/>
                        </a:solidFill>
                        <a:effectLst/>
                        <a:latin typeface="Calibri" panose="020F0502020204030204" pitchFamily="34" charset="0"/>
                      </a:endParaRPr>
                    </a:p>
                  </a:txBody>
                  <a:tcPr marL="0" marR="0" marT="0" marB="0" anchor="b"/>
                </a:tc>
                <a:tc hMerge="1">
                  <a:txBody>
                    <a:bodyPr/>
                    <a:lstStyle/>
                    <a:p>
                      <a:pPr algn="l"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ctr"/>
                      <a:r>
                        <a:rPr lang="en-US" sz="600" u="none" strike="noStrike">
                          <a:effectLst/>
                        </a:rPr>
                        <a:t>2,500.00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ctr"/>
                      <a:r>
                        <a:rPr lang="en-US" sz="600" u="none" strike="noStrike">
                          <a:effectLst/>
                        </a:rPr>
                        <a:t>2,500.00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US" sz="600" u="none" strike="noStrike">
                          <a:effectLst/>
                        </a:rPr>
                        <a:t>2,500.00</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ctr" fontAlgn="ctr"/>
                      <a:r>
                        <a:rPr lang="en-US" sz="600" u="none" strike="noStrike">
                          <a:effectLst/>
                        </a:rPr>
                        <a:t>2,500.00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ctr" fontAlgn="ctr"/>
                      <a:r>
                        <a:rPr lang="en-US" sz="600" u="none" strike="noStrike">
                          <a:effectLst/>
                        </a:rPr>
                        <a:t>2,500.00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ctr" fontAlgn="ctr"/>
                      <a:r>
                        <a:rPr lang="en-US" sz="600" u="none" strike="noStrike">
                          <a:effectLst/>
                        </a:rPr>
                        <a:t>2,500.00</a:t>
                      </a:r>
                      <a:endParaRPr lang="en-US" sz="600" b="0" i="0" u="none" strike="noStrike">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539460981"/>
                  </a:ext>
                </a:extLst>
              </a:tr>
              <a:tr h="130819">
                <a:tc gridSpan="4">
                  <a:txBody>
                    <a:bodyPr/>
                    <a:lstStyle/>
                    <a:p>
                      <a:pPr algn="l" fontAlgn="b"/>
                      <a:r>
                        <a:rPr lang="en-US" sz="600" u="none" strike="noStrike">
                          <a:effectLst/>
                        </a:rPr>
                        <a:t>Septic: cleaning and inspections Nauset Septic (once every 3 years - done in Sprint 2023)</a:t>
                      </a:r>
                      <a:endParaRPr lang="en-US" sz="600" b="0" i="0" u="none" strike="noStrike">
                        <a:solidFill>
                          <a:srgbClr val="000000"/>
                        </a:solidFill>
                        <a:effectLst/>
                        <a:latin typeface="Calibri" panose="020F0502020204030204" pitchFamily="34" charset="0"/>
                      </a:endParaRPr>
                    </a:p>
                  </a:txBody>
                  <a:tcPr marL="0" marR="0" marT="0" marB="0" anchor="b"/>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fontAlgn="ctr"/>
                      <a:r>
                        <a:rPr lang="en-US" sz="600" u="none" strike="noStrike">
                          <a:effectLst/>
                        </a:rPr>
                        <a:t>3800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ctr"/>
                      <a:r>
                        <a:rPr lang="en-US" sz="600" u="none" strike="noStrike">
                          <a:effectLst/>
                        </a:rPr>
                        <a:t>0</a:t>
                      </a:r>
                      <a:endParaRPr lang="en-US" sz="600" b="0" i="0" u="none" strike="noStrike">
                        <a:solidFill>
                          <a:srgbClr val="000000"/>
                        </a:solidFill>
                        <a:effectLst/>
                        <a:latin typeface="&quot;Aptos Narrow&quot;"/>
                      </a:endParaRPr>
                    </a:p>
                  </a:txBody>
                  <a:tcPr marL="0" marR="0" marT="0" marB="0" anchor="ctr"/>
                </a:tc>
                <a:tc>
                  <a:txBody>
                    <a:bodyPr/>
                    <a:lstStyle/>
                    <a:p>
                      <a:pPr algn="r"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ctr" fontAlgn="ctr"/>
                      <a:r>
                        <a:rPr lang="en-US" sz="600" u="none" strike="noStrike">
                          <a:effectLst/>
                        </a:rPr>
                        <a:t>3800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ctr" fontAlgn="ctr"/>
                      <a:r>
                        <a:rPr lang="en-US" sz="600" u="none" strike="noStrike">
                          <a:effectLst/>
                        </a:rPr>
                        <a:t>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ctr" fontAlgn="ctr"/>
                      <a:r>
                        <a:rPr lang="en-US" sz="600" u="none" strike="noStrike">
                          <a:effectLst/>
                        </a:rPr>
                        <a:t>3800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ctr" fontAlgn="ctr"/>
                      <a:r>
                        <a:rPr lang="en-US" sz="600" u="none" strike="noStrike">
                          <a:effectLst/>
                        </a:rPr>
                        <a:t>0</a:t>
                      </a:r>
                      <a:endParaRPr lang="en-US" sz="600" b="0" i="0" u="none" strike="noStrike">
                        <a:solidFill>
                          <a:srgbClr val="000000"/>
                        </a:solidFill>
                        <a:effectLst/>
                        <a:latin typeface="&quot;Aptos Narrow&quot;"/>
                      </a:endParaRPr>
                    </a:p>
                  </a:txBody>
                  <a:tcPr marL="0" marR="0" marT="0" marB="0" anchor="ctr"/>
                </a:tc>
                <a:extLst>
                  <a:ext uri="{0D108BD9-81ED-4DB2-BD59-A6C34878D82A}">
                    <a16:rowId xmlns:a16="http://schemas.microsoft.com/office/drawing/2014/main" val="1383398295"/>
                  </a:ext>
                </a:extLst>
              </a:tr>
              <a:tr h="130819">
                <a:tc>
                  <a:txBody>
                    <a:bodyPr/>
                    <a:lstStyle/>
                    <a:p>
                      <a:pPr algn="l" fontAlgn="b"/>
                      <a:r>
                        <a:rPr lang="en-US" sz="600" u="none" strike="noStrike">
                          <a:effectLst/>
                        </a:rPr>
                        <a:t>Trash Pick Up (Seaside)</a:t>
                      </a:r>
                      <a:endParaRPr lang="en-US" sz="600" b="0" i="0" u="none" strike="noStrike">
                        <a:solidFill>
                          <a:srgbClr val="000000"/>
                        </a:solidFill>
                        <a:effectLst/>
                        <a:latin typeface="Calibri" panose="020F0502020204030204" pitchFamily="34" charset="0"/>
                      </a:endParaRPr>
                    </a:p>
                  </a:txBody>
                  <a:tcPr marL="0" marR="0" marT="0" marB="0" anchor="b"/>
                </a:tc>
                <a:tc gridSpan="2">
                  <a:txBody>
                    <a:bodyPr/>
                    <a:lstStyle/>
                    <a:p>
                      <a:pPr algn="l"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hMerge="1">
                  <a:txBody>
                    <a:bodyPr/>
                    <a:lstStyle/>
                    <a:p>
                      <a:pPr algn="l" fontAlgn="b"/>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ctr"/>
                      <a:r>
                        <a:rPr lang="en-US" sz="600" u="none" strike="noStrike">
                          <a:effectLst/>
                        </a:rPr>
                        <a:t>5,800.00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ctr"/>
                      <a:r>
                        <a:rPr lang="en-US" sz="600" u="none" strike="noStrike">
                          <a:effectLst/>
                        </a:rPr>
                        <a:t>$5,800.00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US" sz="600" u="none" strike="noStrike">
                          <a:effectLst/>
                        </a:rPr>
                        <a:t>$5,800.00</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ctr"/>
                      <a:r>
                        <a:rPr lang="en-US" sz="600" u="none" strike="noStrike">
                          <a:effectLst/>
                        </a:rPr>
                        <a:t>$5,800.00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ctr"/>
                      <a:r>
                        <a:rPr lang="en-US" sz="600" u="none" strike="noStrike">
                          <a:effectLst/>
                        </a:rPr>
                        <a:t>$5,800.00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r" fontAlgn="ctr"/>
                      <a:r>
                        <a:rPr lang="en-US" sz="600" u="none" strike="noStrike">
                          <a:effectLst/>
                        </a:rPr>
                        <a:t>$5,800.00</a:t>
                      </a:r>
                      <a:endParaRPr lang="en-US" sz="600" b="0" i="0" u="none" strike="noStrike">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3256201153"/>
                  </a:ext>
                </a:extLst>
              </a:tr>
              <a:tr h="130819">
                <a:tc gridSpan="4">
                  <a:txBody>
                    <a:bodyPr/>
                    <a:lstStyle/>
                    <a:p>
                      <a:pPr algn="l" fontAlgn="t"/>
                      <a:r>
                        <a:rPr lang="en-US" sz="600" u="none" strike="noStrike">
                          <a:effectLst/>
                        </a:rPr>
                        <a:t>Insurance (Property, Liability and D &amp; O 3 dif companies)</a:t>
                      </a:r>
                      <a:endParaRPr lang="en-US" sz="600" b="0" i="0" u="none" strike="noStrike">
                        <a:solidFill>
                          <a:srgbClr val="000000"/>
                        </a:solidFill>
                        <a:effectLst/>
                        <a:latin typeface="Calibri" panose="020F0502020204030204" pitchFamily="34" charset="0"/>
                      </a:endParaRPr>
                    </a:p>
                  </a:txBody>
                  <a:tcPr marL="0" marR="0" marT="0" marB="0"/>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fontAlgn="ctr"/>
                      <a:r>
                        <a:rPr lang="en-US" sz="600" u="none" strike="noStrike">
                          <a:effectLst/>
                        </a:rPr>
                        <a:t>42,925.00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ctr"/>
                      <a:r>
                        <a:rPr lang="en-US" sz="600" u="none" strike="noStrike">
                          <a:effectLst/>
                        </a:rPr>
                        <a:t>51,510.00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r"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US" sz="600" u="none" strike="noStrike">
                          <a:effectLst/>
                        </a:rPr>
                        <a:t>42,925.00</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ctr"/>
                      <a:r>
                        <a:rPr lang="en-US" sz="600" u="none" strike="noStrike">
                          <a:effectLst/>
                        </a:rPr>
                        <a:t>51,510.00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ctr"/>
                      <a:r>
                        <a:rPr lang="en-US" sz="600" u="none" strike="noStrike">
                          <a:effectLst/>
                        </a:rPr>
                        <a:t>42,925.00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r" fontAlgn="ctr"/>
                      <a:r>
                        <a:rPr lang="en-US" sz="600" u="none" strike="noStrike">
                          <a:effectLst/>
                        </a:rPr>
                        <a:t>51,510.00</a:t>
                      </a:r>
                      <a:endParaRPr lang="en-US" sz="600" b="0" i="0" u="none" strike="noStrike">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3581817222"/>
                  </a:ext>
                </a:extLst>
              </a:tr>
              <a:tr h="130819">
                <a:tc gridSpan="4">
                  <a:txBody>
                    <a:bodyPr/>
                    <a:lstStyle/>
                    <a:p>
                      <a:pPr algn="l" fontAlgn="b"/>
                      <a:r>
                        <a:rPr lang="en-US" sz="600" u="none" strike="noStrike">
                          <a:effectLst/>
                        </a:rPr>
                        <a:t>Accountant (Moriarity Troyer &amp; Malloy LLC (CPA)</a:t>
                      </a:r>
                      <a:endParaRPr lang="en-US" sz="600" b="0" i="0" u="none" strike="noStrike">
                        <a:solidFill>
                          <a:srgbClr val="000000"/>
                        </a:solidFill>
                        <a:effectLst/>
                        <a:latin typeface="Calibri" panose="020F0502020204030204" pitchFamily="34" charset="0"/>
                      </a:endParaRPr>
                    </a:p>
                  </a:txBody>
                  <a:tcPr marL="0" marR="0" marT="0" marB="0" anchor="b"/>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fontAlgn="ctr"/>
                      <a:r>
                        <a:rPr lang="en-US" sz="600" u="none" strike="noStrike">
                          <a:effectLst/>
                        </a:rPr>
                        <a:t>2,300.00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ctr"/>
                      <a:r>
                        <a:rPr lang="en-US" sz="600" u="none" strike="noStrike">
                          <a:effectLst/>
                        </a:rPr>
                        <a:t>2,300.00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US" sz="600" u="none" strike="noStrike">
                          <a:effectLst/>
                        </a:rPr>
                        <a:t>2,300.00</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ctr" fontAlgn="ctr"/>
                      <a:r>
                        <a:rPr lang="en-US" sz="600" u="none" strike="noStrike">
                          <a:effectLst/>
                        </a:rPr>
                        <a:t>2,300.00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ctr" fontAlgn="ctr"/>
                      <a:r>
                        <a:rPr lang="en-US" sz="600" u="none" strike="noStrike">
                          <a:effectLst/>
                        </a:rPr>
                        <a:t>2,300.00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ctr" fontAlgn="ctr"/>
                      <a:r>
                        <a:rPr lang="en-US" sz="600" u="none" strike="noStrike">
                          <a:effectLst/>
                        </a:rPr>
                        <a:t>2,300.00</a:t>
                      </a:r>
                      <a:endParaRPr lang="en-US" sz="600" b="0" i="0" u="none" strike="noStrike">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671772907"/>
                  </a:ext>
                </a:extLst>
              </a:tr>
              <a:tr h="130819">
                <a:tc>
                  <a:txBody>
                    <a:bodyPr/>
                    <a:lstStyle/>
                    <a:p>
                      <a:pPr algn="l" fontAlgn="b"/>
                      <a:r>
                        <a:rPr lang="en-US" sz="600" u="none" strike="noStrike">
                          <a:effectLst/>
                        </a:rPr>
                        <a:t>Bookkeeping (Margaret Grierson)</a:t>
                      </a:r>
                      <a:endParaRPr lang="en-US" sz="600" b="0" i="0" u="none" strike="noStrike">
                        <a:solidFill>
                          <a:srgbClr val="000000"/>
                        </a:solidFill>
                        <a:effectLst/>
                        <a:latin typeface="Calibri" panose="020F0502020204030204" pitchFamily="34" charset="0"/>
                      </a:endParaRPr>
                    </a:p>
                  </a:txBody>
                  <a:tcPr marL="0" marR="0" marT="0" marB="0" anchor="b"/>
                </a:tc>
                <a:tc gridSpan="2">
                  <a:txBody>
                    <a:bodyPr/>
                    <a:lstStyle/>
                    <a:p>
                      <a:pPr algn="l"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hMerge="1">
                  <a:txBody>
                    <a:bodyPr/>
                    <a:lstStyle/>
                    <a:p>
                      <a:pPr algn="l" fontAlgn="b"/>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600" u="none" strike="noStrike" dirty="0">
                          <a:effectLst/>
                        </a:rPr>
                        <a:t> </a:t>
                      </a:r>
                      <a:endParaRPr lang="en-US" sz="60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ctr"/>
                      <a:r>
                        <a:rPr lang="en-US" sz="600" u="none" strike="noStrike">
                          <a:effectLst/>
                        </a:rPr>
                        <a:t>3,675.00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ctr"/>
                      <a:r>
                        <a:rPr lang="en-US" sz="600" u="none" strike="noStrike">
                          <a:effectLst/>
                        </a:rPr>
                        <a:t>3,675.00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US" sz="600" u="none" strike="noStrike">
                          <a:effectLst/>
                        </a:rPr>
                        <a:t>3,675.00</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ctr" fontAlgn="ctr"/>
                      <a:r>
                        <a:rPr lang="en-US" sz="600" u="none" strike="noStrike">
                          <a:effectLst/>
                        </a:rPr>
                        <a:t>3,675.00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ctr" fontAlgn="ctr"/>
                      <a:r>
                        <a:rPr lang="en-US" sz="600" u="none" strike="noStrike">
                          <a:effectLst/>
                        </a:rPr>
                        <a:t>3,675.00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ctr" fontAlgn="ctr"/>
                      <a:r>
                        <a:rPr lang="en-US" sz="600" u="none" strike="noStrike">
                          <a:effectLst/>
                        </a:rPr>
                        <a:t>3,675.00</a:t>
                      </a:r>
                      <a:endParaRPr lang="en-US" sz="600" b="0" i="0" u="none" strike="noStrike">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998963029"/>
                  </a:ext>
                </a:extLst>
              </a:tr>
              <a:tr h="130819">
                <a:tc>
                  <a:txBody>
                    <a:bodyPr/>
                    <a:lstStyle/>
                    <a:p>
                      <a:pPr algn="l" fontAlgn="b"/>
                      <a:r>
                        <a:rPr lang="en-US" sz="600" u="none" strike="noStrike">
                          <a:effectLst/>
                        </a:rPr>
                        <a:t>Utilities: Electric (Eversource)</a:t>
                      </a:r>
                      <a:endParaRPr lang="en-US" sz="600" b="0" i="0" u="none" strike="noStrike">
                        <a:solidFill>
                          <a:srgbClr val="000000"/>
                        </a:solidFill>
                        <a:effectLst/>
                        <a:latin typeface="Calibri" panose="020F0502020204030204" pitchFamily="34" charset="0"/>
                      </a:endParaRPr>
                    </a:p>
                  </a:txBody>
                  <a:tcPr marL="0" marR="0" marT="0" marB="0" anchor="b"/>
                </a:tc>
                <a:tc gridSpan="2">
                  <a:txBody>
                    <a:bodyPr/>
                    <a:lstStyle/>
                    <a:p>
                      <a:pPr algn="l"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hMerge="1">
                  <a:txBody>
                    <a:bodyPr/>
                    <a:lstStyle/>
                    <a:p>
                      <a:pPr algn="l" fontAlgn="b"/>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ctr"/>
                      <a:r>
                        <a:rPr lang="en-US" sz="600" u="none" strike="noStrike">
                          <a:effectLst/>
                        </a:rPr>
                        <a:t>5,500.00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ctr"/>
                      <a:r>
                        <a:rPr lang="en-US" sz="600" u="none" strike="noStrike">
                          <a:effectLst/>
                        </a:rPr>
                        <a:t>5,500.00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US" sz="600" u="none" strike="noStrike">
                          <a:effectLst/>
                        </a:rPr>
                        <a:t>5,500.00</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ctr" fontAlgn="ctr"/>
                      <a:r>
                        <a:rPr lang="en-US" sz="600" u="none" strike="noStrike">
                          <a:effectLst/>
                        </a:rPr>
                        <a:t>5,500.00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ctr" fontAlgn="ctr"/>
                      <a:r>
                        <a:rPr lang="en-US" sz="600" u="none" strike="noStrike">
                          <a:effectLst/>
                        </a:rPr>
                        <a:t>5,500.00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ctr" fontAlgn="ctr"/>
                      <a:r>
                        <a:rPr lang="en-US" sz="600" u="none" strike="noStrike">
                          <a:effectLst/>
                        </a:rPr>
                        <a:t>5,500.00</a:t>
                      </a:r>
                      <a:endParaRPr lang="en-US" sz="600" b="0" i="0" u="none" strike="noStrike">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1396447900"/>
                  </a:ext>
                </a:extLst>
              </a:tr>
              <a:tr h="130819">
                <a:tc gridSpan="3">
                  <a:txBody>
                    <a:bodyPr/>
                    <a:lstStyle/>
                    <a:p>
                      <a:pPr algn="l" fontAlgn="b"/>
                      <a:r>
                        <a:rPr lang="en-US" sz="600" u="none" strike="noStrike">
                          <a:effectLst/>
                        </a:rPr>
                        <a:t>Utilities: Propane Gas (Frank A Days)</a:t>
                      </a:r>
                      <a:endParaRPr lang="en-US" sz="600" b="0" i="0" u="none" strike="noStrike">
                        <a:solidFill>
                          <a:srgbClr val="000000"/>
                        </a:solidFill>
                        <a:effectLst/>
                        <a:latin typeface="Calibri" panose="020F0502020204030204" pitchFamily="34" charset="0"/>
                      </a:endParaRPr>
                    </a:p>
                  </a:txBody>
                  <a:tcPr marL="0" marR="0" marT="0" marB="0" anchor="b"/>
                </a:tc>
                <a:tc hMerge="1">
                  <a:txBody>
                    <a:bodyPr/>
                    <a:lstStyle/>
                    <a:p>
                      <a:endParaRPr lang="en-US"/>
                    </a:p>
                  </a:txBody>
                  <a:tcPr/>
                </a:tc>
                <a:tc hMerge="1">
                  <a:txBody>
                    <a:bodyPr/>
                    <a:lstStyle/>
                    <a:p>
                      <a:pPr algn="l" fontAlgn="b"/>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ctr"/>
                      <a:r>
                        <a:rPr lang="en-US" sz="600" u="none" strike="noStrike">
                          <a:effectLst/>
                        </a:rPr>
                        <a:t>3,800.00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ctr"/>
                      <a:r>
                        <a:rPr lang="en-US" sz="600" u="none" strike="noStrike">
                          <a:effectLst/>
                        </a:rPr>
                        <a:t>3,800.00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US" sz="600" u="none" strike="noStrike">
                          <a:effectLst/>
                        </a:rPr>
                        <a:t>3,800.00</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ctr" fontAlgn="ctr"/>
                      <a:r>
                        <a:rPr lang="en-US" sz="600" u="none" strike="noStrike">
                          <a:effectLst/>
                        </a:rPr>
                        <a:t>3,800.00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ctr" fontAlgn="ctr"/>
                      <a:r>
                        <a:rPr lang="en-US" sz="600" u="none" strike="noStrike">
                          <a:effectLst/>
                        </a:rPr>
                        <a:t>3,800.00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ctr" fontAlgn="ctr"/>
                      <a:r>
                        <a:rPr lang="en-US" sz="600" u="none" strike="noStrike">
                          <a:effectLst/>
                        </a:rPr>
                        <a:t>3,800.00</a:t>
                      </a:r>
                      <a:endParaRPr lang="en-US" sz="600" b="0" i="0" u="none" strike="noStrike">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1076014986"/>
                  </a:ext>
                </a:extLst>
              </a:tr>
              <a:tr h="130819">
                <a:tc gridSpan="3">
                  <a:txBody>
                    <a:bodyPr/>
                    <a:lstStyle/>
                    <a:p>
                      <a:pPr algn="l" fontAlgn="b"/>
                      <a:r>
                        <a:rPr lang="en-US" sz="600" u="none" strike="noStrike">
                          <a:effectLst/>
                        </a:rPr>
                        <a:t>Utilities: Water Sampling (Well Tapped)</a:t>
                      </a:r>
                      <a:endParaRPr lang="en-US" sz="600" b="0" i="0" u="none" strike="noStrike">
                        <a:solidFill>
                          <a:srgbClr val="000000"/>
                        </a:solidFill>
                        <a:effectLst/>
                        <a:latin typeface="Calibri" panose="020F0502020204030204" pitchFamily="34" charset="0"/>
                      </a:endParaRPr>
                    </a:p>
                  </a:txBody>
                  <a:tcPr marL="0" marR="0" marT="0" marB="0" anchor="b"/>
                </a:tc>
                <a:tc hMerge="1">
                  <a:txBody>
                    <a:bodyPr/>
                    <a:lstStyle/>
                    <a:p>
                      <a:endParaRPr lang="en-US"/>
                    </a:p>
                  </a:txBody>
                  <a:tcPr/>
                </a:tc>
                <a:tc hMerge="1">
                  <a:txBody>
                    <a:bodyPr/>
                    <a:lstStyle/>
                    <a:p>
                      <a:pPr algn="l" fontAlgn="b"/>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ctr"/>
                      <a:r>
                        <a:rPr lang="en-US" sz="600" u="none" strike="noStrike">
                          <a:effectLst/>
                        </a:rPr>
                        <a:t>2,300.00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ctr"/>
                      <a:r>
                        <a:rPr lang="en-US" sz="600" u="none" strike="noStrike">
                          <a:effectLst/>
                        </a:rPr>
                        <a:t>2,300.00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US" sz="600" u="none" strike="noStrike">
                          <a:effectLst/>
                        </a:rPr>
                        <a:t>2,300.00</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ctr" fontAlgn="ctr"/>
                      <a:r>
                        <a:rPr lang="en-US" sz="600" u="none" strike="noStrike">
                          <a:effectLst/>
                        </a:rPr>
                        <a:t>2,300.00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ctr" fontAlgn="ctr"/>
                      <a:r>
                        <a:rPr lang="en-US" sz="600" u="none" strike="noStrike">
                          <a:effectLst/>
                        </a:rPr>
                        <a:t>2,300.00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ctr" fontAlgn="ctr"/>
                      <a:r>
                        <a:rPr lang="en-US" sz="600" u="none" strike="noStrike">
                          <a:effectLst/>
                        </a:rPr>
                        <a:t>2,300.00</a:t>
                      </a:r>
                      <a:endParaRPr lang="en-US" sz="600" b="0" i="0" u="none" strike="noStrike">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1659659054"/>
                  </a:ext>
                </a:extLst>
              </a:tr>
              <a:tr h="130819">
                <a:tc>
                  <a:txBody>
                    <a:bodyPr/>
                    <a:lstStyle/>
                    <a:p>
                      <a:pPr algn="l" fontAlgn="b"/>
                      <a:r>
                        <a:rPr lang="en-US" sz="600" u="none" strike="noStrike">
                          <a:effectLst/>
                        </a:rPr>
                        <a:t>Special Projects</a:t>
                      </a:r>
                      <a:endParaRPr lang="en-US" sz="600" b="0" i="0" u="none" strike="noStrike">
                        <a:solidFill>
                          <a:srgbClr val="000000"/>
                        </a:solidFill>
                        <a:effectLst/>
                        <a:latin typeface="Calibri" panose="020F0502020204030204" pitchFamily="34" charset="0"/>
                      </a:endParaRPr>
                    </a:p>
                  </a:txBody>
                  <a:tcPr marL="0" marR="0" marT="0" marB="0" anchor="b"/>
                </a:tc>
                <a:tc gridSpan="2">
                  <a:txBody>
                    <a:bodyPr/>
                    <a:lstStyle/>
                    <a:p>
                      <a:pPr algn="l"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hMerge="1">
                  <a:txBody>
                    <a:bodyPr/>
                    <a:lstStyle/>
                    <a:p>
                      <a:pPr algn="l" fontAlgn="b"/>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ctr"/>
                      <a:r>
                        <a:rPr lang="en-US" sz="600" u="none" strike="noStrike">
                          <a:effectLst/>
                        </a:rPr>
                        <a:t>5,000.00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ctr"/>
                      <a:r>
                        <a:rPr lang="en-US" sz="600" u="none" strike="noStrike">
                          <a:effectLst/>
                        </a:rPr>
                        <a:t>5,000.00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US" sz="600" u="none" strike="noStrike">
                          <a:effectLst/>
                        </a:rPr>
                        <a:t>5,000.00</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ctr" fontAlgn="ctr"/>
                      <a:r>
                        <a:rPr lang="en-US" sz="600" u="none" strike="noStrike">
                          <a:effectLst/>
                        </a:rPr>
                        <a:t>5,000.00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ctr" fontAlgn="ctr"/>
                      <a:r>
                        <a:rPr lang="en-US" sz="600" u="none" strike="noStrike">
                          <a:effectLst/>
                        </a:rPr>
                        <a:t>5,000.00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ctr" fontAlgn="ctr"/>
                      <a:r>
                        <a:rPr lang="en-US" sz="600" u="none" strike="noStrike">
                          <a:effectLst/>
                        </a:rPr>
                        <a:t>5,000.00</a:t>
                      </a:r>
                      <a:endParaRPr lang="en-US" sz="600" b="0" i="0" u="none" strike="noStrike">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4066582902"/>
                  </a:ext>
                </a:extLst>
              </a:tr>
              <a:tr h="130819">
                <a:tc>
                  <a:txBody>
                    <a:bodyPr/>
                    <a:lstStyle/>
                    <a:p>
                      <a:pPr algn="l" fontAlgn="b"/>
                      <a:r>
                        <a:rPr lang="en-US" sz="600" u="none" strike="noStrike">
                          <a:effectLst/>
                        </a:rPr>
                        <a:t>Contributions: Truro Rescue</a:t>
                      </a:r>
                      <a:endParaRPr lang="en-US" sz="600" b="0" i="0" u="none" strike="noStrike">
                        <a:solidFill>
                          <a:srgbClr val="000000"/>
                        </a:solidFill>
                        <a:effectLst/>
                        <a:latin typeface="Calibri" panose="020F0502020204030204" pitchFamily="34" charset="0"/>
                      </a:endParaRPr>
                    </a:p>
                  </a:txBody>
                  <a:tcPr marL="0" marR="0" marT="0" marB="0" anchor="b"/>
                </a:tc>
                <a:tc gridSpan="2">
                  <a:txBody>
                    <a:bodyPr/>
                    <a:lstStyle/>
                    <a:p>
                      <a:pPr algn="l"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hMerge="1">
                  <a:txBody>
                    <a:bodyPr/>
                    <a:lstStyle/>
                    <a:p>
                      <a:pPr algn="l" fontAlgn="b"/>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ctr"/>
                      <a:r>
                        <a:rPr lang="en-US" sz="600" u="none" strike="noStrike">
                          <a:effectLst/>
                        </a:rPr>
                        <a:t>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ctr"/>
                      <a:r>
                        <a:rPr lang="en-US" sz="600" u="none" strike="noStrike">
                          <a:effectLst/>
                        </a:rPr>
                        <a:t>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US" sz="600" u="none" strike="noStrike">
                          <a:effectLst/>
                        </a:rPr>
                        <a:t>0</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ctr" fontAlgn="ctr"/>
                      <a:r>
                        <a:rPr lang="en-US" sz="600" u="none" strike="noStrike">
                          <a:effectLst/>
                        </a:rPr>
                        <a:t>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ctr" fontAlgn="ctr"/>
                      <a:r>
                        <a:rPr lang="en-US" sz="600" u="none" strike="noStrike">
                          <a:effectLst/>
                        </a:rPr>
                        <a:t>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ctr" fontAlgn="ctr"/>
                      <a:r>
                        <a:rPr lang="en-US" sz="600" u="none" strike="noStrike">
                          <a:effectLst/>
                        </a:rPr>
                        <a:t>0</a:t>
                      </a:r>
                      <a:endParaRPr lang="en-US" sz="600" b="0" i="0" u="none" strike="noStrike">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1556667679"/>
                  </a:ext>
                </a:extLst>
              </a:tr>
              <a:tr h="130819">
                <a:tc gridSpan="4">
                  <a:txBody>
                    <a:bodyPr/>
                    <a:lstStyle/>
                    <a:p>
                      <a:pPr algn="r" fontAlgn="b"/>
                      <a:r>
                        <a:rPr lang="en-US" sz="600" u="none" strike="noStrike">
                          <a:effectLst/>
                        </a:rPr>
                        <a:t>Misc: Fire Extinguisher insp., fees, postage, etc.</a:t>
                      </a:r>
                      <a:endParaRPr lang="en-US" sz="600" b="0" i="0" u="none" strike="noStrike">
                        <a:solidFill>
                          <a:srgbClr val="000000"/>
                        </a:solidFill>
                        <a:effectLst/>
                        <a:latin typeface="Calibri" panose="020F0502020204030204" pitchFamily="34" charset="0"/>
                      </a:endParaRPr>
                    </a:p>
                  </a:txBody>
                  <a:tcPr marL="0" marR="0" marT="0" marB="0" anchor="b"/>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fontAlgn="ctr"/>
                      <a:r>
                        <a:rPr lang="en-US" sz="600" u="none" strike="noStrike">
                          <a:effectLst/>
                        </a:rPr>
                        <a:t>300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ctr"/>
                      <a:r>
                        <a:rPr lang="en-US" sz="600" u="none" strike="noStrike">
                          <a:effectLst/>
                        </a:rPr>
                        <a:t>300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US" sz="600" u="none" strike="noStrike">
                          <a:effectLst/>
                        </a:rPr>
                        <a:t>300</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ctr" fontAlgn="ctr"/>
                      <a:r>
                        <a:rPr lang="en-US" sz="600" u="none" strike="noStrike">
                          <a:effectLst/>
                        </a:rPr>
                        <a:t>300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ctr" fontAlgn="ctr"/>
                      <a:r>
                        <a:rPr lang="en-US" sz="600" u="none" strike="noStrike">
                          <a:effectLst/>
                        </a:rPr>
                        <a:t>300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ctr" fontAlgn="ctr"/>
                      <a:r>
                        <a:rPr lang="en-US" sz="600" u="none" strike="noStrike">
                          <a:effectLst/>
                        </a:rPr>
                        <a:t>300</a:t>
                      </a:r>
                      <a:endParaRPr lang="en-US" sz="600" b="0" i="0" u="none" strike="noStrike">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1809909715"/>
                  </a:ext>
                </a:extLst>
              </a:tr>
              <a:tr h="130819">
                <a:tc gridSpan="4">
                  <a:txBody>
                    <a:bodyPr/>
                    <a:lstStyle/>
                    <a:p>
                      <a:pPr algn="r" fontAlgn="b"/>
                      <a:r>
                        <a:rPr lang="en-US" sz="600" u="none" strike="noStrike">
                          <a:effectLst/>
                        </a:rPr>
                        <a:t>Total Ordinary Expenses Budgeted (excl legal fees)</a:t>
                      </a:r>
                      <a:endParaRPr lang="en-US" sz="600" b="1" i="0" u="none" strike="noStrike">
                        <a:solidFill>
                          <a:srgbClr val="000000"/>
                        </a:solidFill>
                        <a:effectLst/>
                        <a:latin typeface="Calibri" panose="020F0502020204030204" pitchFamily="34" charset="0"/>
                      </a:endParaRPr>
                    </a:p>
                  </a:txBody>
                  <a:tcPr marL="0" marR="0" marT="0" marB="0" anchor="b"/>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fontAlgn="ctr"/>
                      <a:r>
                        <a:rPr lang="en-US" sz="600" u="none" strike="noStrike">
                          <a:effectLst/>
                        </a:rPr>
                        <a:t>95,900.00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ctr"/>
                      <a:r>
                        <a:rPr lang="en-US" sz="600" u="none" strike="noStrike">
                          <a:effectLst/>
                        </a:rPr>
                        <a:t>100,685.00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US" sz="600" u="none" strike="noStrike">
                          <a:effectLst/>
                        </a:rPr>
                        <a:t>95,900.00</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ctr" fontAlgn="ctr"/>
                      <a:r>
                        <a:rPr lang="en-US" sz="600" u="none" strike="noStrike">
                          <a:effectLst/>
                        </a:rPr>
                        <a:t>100,685.00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ctr" fontAlgn="ctr"/>
                      <a:r>
                        <a:rPr lang="en-US" sz="600" u="none" strike="noStrike">
                          <a:effectLst/>
                        </a:rPr>
                        <a:t>95,900.00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ctr" fontAlgn="ctr"/>
                      <a:r>
                        <a:rPr lang="en-US" sz="600" u="none" strike="noStrike">
                          <a:effectLst/>
                        </a:rPr>
                        <a:t>100,685.00</a:t>
                      </a:r>
                      <a:endParaRPr lang="en-US" sz="600" b="0" i="0" u="none" strike="noStrike">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2992551477"/>
                  </a:ext>
                </a:extLst>
              </a:tr>
              <a:tr h="130819">
                <a:tc gridSpan="4">
                  <a:txBody>
                    <a:bodyPr/>
                    <a:lstStyle/>
                    <a:p>
                      <a:pPr algn="r" fontAlgn="b"/>
                      <a:r>
                        <a:rPr lang="en-US" sz="600" u="none" strike="noStrike">
                          <a:effectLst/>
                        </a:rPr>
                        <a:t>Projected Net Income (Loss) Before Extraordinary Items</a:t>
                      </a:r>
                      <a:endParaRPr lang="en-US" sz="600" b="1" i="0" u="none" strike="noStrike">
                        <a:solidFill>
                          <a:srgbClr val="000000"/>
                        </a:solidFill>
                        <a:effectLst/>
                        <a:latin typeface="Calibri" panose="020F0502020204030204" pitchFamily="34" charset="0"/>
                      </a:endParaRPr>
                    </a:p>
                  </a:txBody>
                  <a:tcPr marL="0" marR="0" marT="0" marB="0" anchor="b"/>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fontAlgn="ctr"/>
                      <a:r>
                        <a:rPr lang="en-US" sz="600" u="none" strike="noStrike">
                          <a:effectLst/>
                        </a:rPr>
                        <a:t>-3,681.00</a:t>
                      </a:r>
                      <a:endParaRPr lang="en-US" sz="600" b="0" i="0" u="none" strike="noStrike">
                        <a:solidFill>
                          <a:srgbClr val="FF0000"/>
                        </a:solidFill>
                        <a:effectLst/>
                        <a:latin typeface="Calibri" panose="020F0502020204030204" pitchFamily="34" charset="0"/>
                      </a:endParaRPr>
                    </a:p>
                  </a:txBody>
                  <a:tcPr marL="0" marR="0" marT="0" marB="0" anchor="ctr"/>
                </a:tc>
                <a:tc>
                  <a:txBody>
                    <a:bodyPr/>
                    <a:lstStyle/>
                    <a:p>
                      <a:pPr algn="ctr" fontAlgn="b"/>
                      <a:r>
                        <a:rPr lang="en-US" sz="600" u="none" strike="noStrike">
                          <a:effectLst/>
                        </a:rPr>
                        <a:t> </a:t>
                      </a:r>
                      <a:endParaRPr lang="en-US" sz="600" b="0" i="0" u="none" strike="noStrike">
                        <a:solidFill>
                          <a:srgbClr val="FF0000"/>
                        </a:solidFill>
                        <a:effectLst/>
                        <a:latin typeface="Calibri" panose="020F0502020204030204" pitchFamily="34" charset="0"/>
                      </a:endParaRPr>
                    </a:p>
                  </a:txBody>
                  <a:tcPr marL="0" marR="0" marT="0" marB="0" anchor="b"/>
                </a:tc>
                <a:tc>
                  <a:txBody>
                    <a:bodyPr/>
                    <a:lstStyle/>
                    <a:p>
                      <a:pPr algn="ctr" fontAlgn="ctr"/>
                      <a:r>
                        <a:rPr lang="en-US" sz="600" u="none" strike="noStrike">
                          <a:effectLst/>
                        </a:rPr>
                        <a:t>-8,466.00</a:t>
                      </a:r>
                      <a:endParaRPr lang="en-US" sz="600" b="0" i="0" u="none" strike="noStrike">
                        <a:solidFill>
                          <a:srgbClr val="FF0000"/>
                        </a:solidFill>
                        <a:effectLst/>
                        <a:latin typeface="Calibri" panose="020F0502020204030204" pitchFamily="34" charset="0"/>
                      </a:endParaRPr>
                    </a:p>
                  </a:txBody>
                  <a:tcPr marL="0" marR="0" marT="0" marB="0" anchor="ctr"/>
                </a:tc>
                <a:tc>
                  <a:txBody>
                    <a:bodyPr/>
                    <a:lstStyle/>
                    <a:p>
                      <a:pPr algn="ctr"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US" sz="600" u="none" strike="noStrike">
                          <a:effectLst/>
                        </a:rPr>
                        <a:t>4,103.00</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ctr"/>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ctr"/>
                      <a:r>
                        <a:rPr lang="en-US" sz="600" u="none" strike="noStrike">
                          <a:effectLst/>
                        </a:rPr>
                        <a:t>16,319.00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ctr"/>
                      <a:r>
                        <a:rPr lang="en-US" sz="600" u="none" strike="noStrike">
                          <a:effectLst/>
                        </a:rPr>
                        <a:t>11,534.00</a:t>
                      </a:r>
                      <a:endParaRPr lang="en-US" sz="600" b="0" i="0" u="none" strike="noStrike">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2742734560"/>
                  </a:ext>
                </a:extLst>
              </a:tr>
              <a:tr h="130819">
                <a:tc gridSpan="4">
                  <a:txBody>
                    <a:bodyPr/>
                    <a:lstStyle/>
                    <a:p>
                      <a:pPr algn="r" fontAlgn="b"/>
                      <a:r>
                        <a:rPr lang="en-US" sz="600" u="none" strike="noStrike">
                          <a:effectLst/>
                        </a:rPr>
                        <a:t>Extraordinary Item: Legal Fee final amt due in FY26</a:t>
                      </a:r>
                      <a:endParaRPr lang="en-US" sz="600" b="0" i="0" u="none" strike="noStrike">
                        <a:solidFill>
                          <a:srgbClr val="000000"/>
                        </a:solidFill>
                        <a:effectLst/>
                        <a:latin typeface="Calibri" panose="020F0502020204030204" pitchFamily="34" charset="0"/>
                      </a:endParaRPr>
                    </a:p>
                  </a:txBody>
                  <a:tcPr marL="0" marR="0" marT="0" marB="0" anchor="b"/>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fontAlgn="ctr"/>
                      <a:r>
                        <a:rPr lang="en-US" sz="600" u="none" strike="noStrike">
                          <a:effectLst/>
                        </a:rPr>
                        <a:t>11,622.00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ctr"/>
                      <a:r>
                        <a:rPr lang="en-US" sz="600" u="none" strike="noStrike">
                          <a:effectLst/>
                        </a:rPr>
                        <a:t>0</a:t>
                      </a:r>
                      <a:endParaRPr lang="en-US" sz="600" b="0" i="0" u="none" strike="noStrike">
                        <a:solidFill>
                          <a:srgbClr val="000000"/>
                        </a:solidFill>
                        <a:effectLst/>
                        <a:latin typeface="&quot;Aptos Narrow&quot;"/>
                      </a:endParaRPr>
                    </a:p>
                  </a:txBody>
                  <a:tcPr marL="0" marR="0" marT="0" marB="0" anchor="ctr"/>
                </a:tc>
                <a:tc>
                  <a:txBody>
                    <a:bodyPr/>
                    <a:lstStyle/>
                    <a:p>
                      <a:pPr algn="r"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ctr" fontAlgn="b"/>
                      <a:r>
                        <a:rPr lang="en-US" sz="600" u="none" strike="noStrike">
                          <a:effectLst/>
                        </a:rPr>
                        <a:t>11,622.00</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ctr" fontAlgn="ctr"/>
                      <a:r>
                        <a:rPr lang="en-US" sz="600" u="none" strike="noStrike">
                          <a:effectLst/>
                        </a:rPr>
                        <a:t>0</a:t>
                      </a:r>
                      <a:endParaRPr lang="en-US" sz="600" b="0" i="0" u="none" strike="noStrike">
                        <a:solidFill>
                          <a:srgbClr val="000000"/>
                        </a:solidFill>
                        <a:effectLst/>
                        <a:latin typeface="&quot;Aptos Narrow&quot;"/>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ctr" fontAlgn="ctr"/>
                      <a:r>
                        <a:rPr lang="en-US" sz="600" u="none" strike="noStrike">
                          <a:effectLst/>
                        </a:rPr>
                        <a:t>11,622.00</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ctr" fontAlgn="ctr"/>
                      <a:r>
                        <a:rPr lang="en-US" sz="600" u="none" strike="noStrike">
                          <a:effectLst/>
                        </a:rPr>
                        <a:t>0</a:t>
                      </a:r>
                      <a:endParaRPr lang="en-US" sz="600" b="0" i="0" u="none" strike="noStrike">
                        <a:solidFill>
                          <a:srgbClr val="000000"/>
                        </a:solidFill>
                        <a:effectLst/>
                        <a:latin typeface="&quot;Aptos Narrow&quot;"/>
                      </a:endParaRPr>
                    </a:p>
                  </a:txBody>
                  <a:tcPr marL="0" marR="0" marT="0" marB="0" anchor="ctr"/>
                </a:tc>
                <a:extLst>
                  <a:ext uri="{0D108BD9-81ED-4DB2-BD59-A6C34878D82A}">
                    <a16:rowId xmlns:a16="http://schemas.microsoft.com/office/drawing/2014/main" val="3614140594"/>
                  </a:ext>
                </a:extLst>
              </a:tr>
              <a:tr h="130819">
                <a:tc>
                  <a:txBody>
                    <a:bodyPr/>
                    <a:lstStyle/>
                    <a:p>
                      <a:pPr algn="r"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gridSpan="2">
                  <a:txBody>
                    <a:bodyPr/>
                    <a:lstStyle/>
                    <a:p>
                      <a:pPr algn="r"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hMerge="1">
                  <a:txBody>
                    <a:bodyPr/>
                    <a:lstStyle/>
                    <a:p>
                      <a:pPr algn="r" fontAlgn="b"/>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ctr"/>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l" fontAlgn="ctr"/>
                      <a:r>
                        <a:rPr lang="en-US" sz="600" u="none" strike="noStrike">
                          <a:effectLst/>
                        </a:rPr>
                        <a:t> </a:t>
                      </a:r>
                      <a:endParaRPr lang="en-US" sz="600" b="0" i="0" u="none" strike="noStrike">
                        <a:solidFill>
                          <a:srgbClr val="000000"/>
                        </a:solidFill>
                        <a:effectLst/>
                        <a:latin typeface="&quot;Aptos Narrow&quot;"/>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ctr"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l" fontAlgn="ctr"/>
                      <a:r>
                        <a:rPr lang="en-US" sz="600" u="none" strike="noStrike">
                          <a:effectLst/>
                        </a:rPr>
                        <a:t> </a:t>
                      </a:r>
                      <a:endParaRPr lang="en-US" sz="600" b="0" i="0" u="none" strike="noStrike">
                        <a:solidFill>
                          <a:srgbClr val="000000"/>
                        </a:solidFill>
                        <a:effectLst/>
                        <a:latin typeface="&quot;Aptos Narrow&quot;"/>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ctr" fontAlgn="ctr"/>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l" fontAlgn="ctr"/>
                      <a:r>
                        <a:rPr lang="en-US" sz="600" u="none" strike="noStrike">
                          <a:effectLst/>
                        </a:rPr>
                        <a:t> </a:t>
                      </a:r>
                      <a:endParaRPr lang="en-US" sz="600" b="0" i="0" u="none" strike="noStrike">
                        <a:solidFill>
                          <a:srgbClr val="000000"/>
                        </a:solidFill>
                        <a:effectLst/>
                        <a:latin typeface="&quot;Aptos Narrow&quot;"/>
                      </a:endParaRPr>
                    </a:p>
                  </a:txBody>
                  <a:tcPr marL="0" marR="0" marT="0" marB="0" anchor="ctr"/>
                </a:tc>
                <a:extLst>
                  <a:ext uri="{0D108BD9-81ED-4DB2-BD59-A6C34878D82A}">
                    <a16:rowId xmlns:a16="http://schemas.microsoft.com/office/drawing/2014/main" val="2585515419"/>
                  </a:ext>
                </a:extLst>
              </a:tr>
              <a:tr h="130819">
                <a:tc gridSpan="4">
                  <a:txBody>
                    <a:bodyPr/>
                    <a:lstStyle/>
                    <a:p>
                      <a:pPr algn="r" fontAlgn="b"/>
                      <a:r>
                        <a:rPr lang="en-US" sz="600" u="none" strike="noStrike">
                          <a:effectLst/>
                        </a:rPr>
                        <a:t>Total Projected Net/Loss</a:t>
                      </a:r>
                      <a:endParaRPr lang="en-US" sz="600" b="1" i="0" u="none" strike="noStrike">
                        <a:solidFill>
                          <a:srgbClr val="000000"/>
                        </a:solidFill>
                        <a:effectLst/>
                        <a:latin typeface="Calibri" panose="020F0502020204030204" pitchFamily="34" charset="0"/>
                      </a:endParaRPr>
                    </a:p>
                  </a:txBody>
                  <a:tcPr marL="0" marR="0" marT="0" marB="0" anchor="b"/>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fontAlgn="ctr"/>
                      <a:r>
                        <a:rPr lang="en-US" sz="600" u="none" strike="noStrike">
                          <a:effectLst/>
                        </a:rPr>
                        <a:t>$10,318</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ctr"/>
                      <a:r>
                        <a:rPr lang="en-US" sz="600" u="none" strike="noStrike">
                          <a:effectLst/>
                        </a:rPr>
                        <a:t>$1,852</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US" sz="600" u="none" strike="noStrike">
                          <a:effectLst/>
                        </a:rPr>
                        <a:t>$25,886</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ctr" fontAlgn="ctr"/>
                      <a:r>
                        <a:rPr lang="en-US" sz="600" u="none" strike="noStrike">
                          <a:effectLst/>
                        </a:rPr>
                        <a:t>$25,204</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ctr" fontAlgn="ctr"/>
                      <a:r>
                        <a:rPr lang="en-US" sz="600" u="none" strike="noStrike">
                          <a:effectLst/>
                        </a:rPr>
                        <a:t>$50,318</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ctr" fontAlgn="ctr"/>
                      <a:r>
                        <a:rPr lang="en-US" sz="600" u="none" strike="noStrike">
                          <a:effectLst/>
                        </a:rPr>
                        <a:t>$61,852</a:t>
                      </a:r>
                      <a:endParaRPr lang="en-US" sz="600" b="0" i="0" u="none" strike="noStrike">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464663738"/>
                  </a:ext>
                </a:extLst>
              </a:tr>
              <a:tr h="122033">
                <a:tc>
                  <a:txBody>
                    <a:bodyPr/>
                    <a:lstStyle/>
                    <a:p>
                      <a:pPr algn="l" fontAlgn="b"/>
                      <a:endParaRPr lang="en-US" sz="600" b="0" i="0" u="none" strike="noStrike">
                        <a:solidFill>
                          <a:srgbClr val="000000"/>
                        </a:solidFill>
                        <a:effectLst/>
                        <a:latin typeface="&quot;Aptos Narrow&quot;"/>
                      </a:endParaRPr>
                    </a:p>
                  </a:txBody>
                  <a:tcPr marL="0" marR="0" marT="0" marB="0" anchor="b"/>
                </a:tc>
                <a:tc gridSpan="2">
                  <a:txBody>
                    <a:bodyPr/>
                    <a:lstStyle/>
                    <a:p>
                      <a:pPr algn="l" fontAlgn="b"/>
                      <a:endParaRPr lang="en-US" sz="600" b="0" i="0" u="none" strike="noStrike">
                        <a:solidFill>
                          <a:srgbClr val="000000"/>
                        </a:solidFill>
                        <a:effectLst/>
                        <a:latin typeface="&quot;Aptos Narrow&quot;"/>
                      </a:endParaRPr>
                    </a:p>
                  </a:txBody>
                  <a:tcPr marL="0" marR="0" marT="0" marB="0" anchor="b"/>
                </a:tc>
                <a:tc hMerge="1">
                  <a:txBody>
                    <a:bodyPr/>
                    <a:lstStyle/>
                    <a:p>
                      <a:pPr algn="l" fontAlgn="b"/>
                      <a:endParaRPr lang="en-US" sz="600" b="0" i="0" u="none" strike="noStrike">
                        <a:solidFill>
                          <a:srgbClr val="000000"/>
                        </a:solidFill>
                        <a:effectLst/>
                        <a:latin typeface="&quot;Aptos Narrow&quot;"/>
                      </a:endParaRPr>
                    </a:p>
                  </a:txBody>
                  <a:tcPr marL="0" marR="0" marT="0" marB="0" anchor="b"/>
                </a:tc>
                <a:tc>
                  <a:txBody>
                    <a:bodyPr/>
                    <a:lstStyle/>
                    <a:p>
                      <a:pPr algn="l" fontAlgn="b"/>
                      <a:endParaRPr lang="en-US" sz="600" b="0" i="0" u="none" strike="noStrike">
                        <a:solidFill>
                          <a:srgbClr val="000000"/>
                        </a:solidFill>
                        <a:effectLst/>
                        <a:latin typeface="&quot;Aptos Narrow&quot;"/>
                      </a:endParaRPr>
                    </a:p>
                  </a:txBody>
                  <a:tcPr marL="0" marR="0" marT="0" marB="0" anchor="b"/>
                </a:tc>
                <a:tc>
                  <a:txBody>
                    <a:bodyPr/>
                    <a:lstStyle/>
                    <a:p>
                      <a:pPr algn="l" fontAlgn="ctr"/>
                      <a:endParaRPr lang="en-US" sz="600" b="0" i="0" u="none" strike="noStrike">
                        <a:solidFill>
                          <a:srgbClr val="000000"/>
                        </a:solidFill>
                        <a:effectLst/>
                        <a:latin typeface="&quot;Aptos Narrow&quot;"/>
                      </a:endParaRPr>
                    </a:p>
                  </a:txBody>
                  <a:tcPr marL="0" marR="0" marT="0" marB="0" anchor="ctr"/>
                </a:tc>
                <a:tc>
                  <a:txBody>
                    <a:bodyPr/>
                    <a:lstStyle/>
                    <a:p>
                      <a:pPr algn="l" fontAlgn="b"/>
                      <a:endParaRPr lang="en-US" sz="600" b="0" i="0" u="none" strike="noStrike">
                        <a:solidFill>
                          <a:srgbClr val="000000"/>
                        </a:solidFill>
                        <a:effectLst/>
                        <a:latin typeface="&quot;Aptos Narrow&quot;"/>
                      </a:endParaRPr>
                    </a:p>
                  </a:txBody>
                  <a:tcPr marL="0" marR="0" marT="0" marB="0" anchor="b"/>
                </a:tc>
                <a:tc>
                  <a:txBody>
                    <a:bodyPr/>
                    <a:lstStyle/>
                    <a:p>
                      <a:pPr algn="l" fontAlgn="ctr"/>
                      <a:endParaRPr lang="en-US" sz="600" b="0" i="0" u="none" strike="noStrike">
                        <a:solidFill>
                          <a:srgbClr val="000000"/>
                        </a:solidFill>
                        <a:effectLst/>
                        <a:latin typeface="&quot;Aptos Narrow&quot;"/>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l" fontAlgn="b"/>
                      <a:endParaRPr lang="en-US" sz="600" b="0" i="0" u="none" strike="noStrike">
                        <a:solidFill>
                          <a:srgbClr val="000000"/>
                        </a:solidFill>
                        <a:effectLst/>
                        <a:latin typeface="&quot;Aptos Narrow&quot;"/>
                      </a:endParaRPr>
                    </a:p>
                  </a:txBody>
                  <a:tcPr marL="0" marR="0" marT="0" marB="0" anchor="b"/>
                </a:tc>
                <a:tc>
                  <a:txBody>
                    <a:bodyPr/>
                    <a:lstStyle/>
                    <a:p>
                      <a:pPr algn="l" fontAlgn="b"/>
                      <a:endParaRPr lang="en-US" sz="600" b="0" i="0" u="none" strike="noStrike">
                        <a:solidFill>
                          <a:srgbClr val="000000"/>
                        </a:solidFill>
                        <a:effectLst/>
                        <a:latin typeface="&quot;Aptos Narrow&quot;"/>
                      </a:endParaRPr>
                    </a:p>
                  </a:txBody>
                  <a:tcPr marL="0" marR="0" marT="0" marB="0" anchor="b"/>
                </a:tc>
                <a:tc>
                  <a:txBody>
                    <a:bodyPr/>
                    <a:lstStyle/>
                    <a:p>
                      <a:pPr algn="l" fontAlgn="ctr"/>
                      <a:endParaRPr lang="en-US" sz="600" b="0" i="0" u="none" strike="noStrike">
                        <a:solidFill>
                          <a:srgbClr val="000000"/>
                        </a:solidFill>
                        <a:effectLst/>
                        <a:latin typeface="&quot;Aptos Narrow&quot;"/>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l" fontAlgn="ctr"/>
                      <a:endParaRPr lang="en-US" sz="600" b="0" i="0" u="none" strike="noStrike">
                        <a:solidFill>
                          <a:srgbClr val="000000"/>
                        </a:solidFill>
                        <a:effectLst/>
                        <a:latin typeface="&quot;Aptos Narrow&quot;"/>
                      </a:endParaRPr>
                    </a:p>
                  </a:txBody>
                  <a:tcPr marL="0" marR="0" marT="0" marB="0" anchor="ctr"/>
                </a:tc>
                <a:tc>
                  <a:txBody>
                    <a:bodyPr/>
                    <a:lstStyle/>
                    <a:p>
                      <a:pPr algn="l" fontAlgn="b"/>
                      <a:endParaRPr lang="en-US" sz="600" b="0" i="0" u="none" strike="noStrike">
                        <a:solidFill>
                          <a:srgbClr val="000000"/>
                        </a:solidFill>
                        <a:effectLst/>
                        <a:latin typeface="&quot;Aptos Narrow&quot;"/>
                      </a:endParaRPr>
                    </a:p>
                  </a:txBody>
                  <a:tcPr marL="0" marR="0" marT="0" marB="0" anchor="b"/>
                </a:tc>
                <a:tc>
                  <a:txBody>
                    <a:bodyPr/>
                    <a:lstStyle/>
                    <a:p>
                      <a:pPr algn="l" fontAlgn="ctr"/>
                      <a:endParaRPr lang="en-US" sz="600" b="0" i="0" u="none" strike="noStrike">
                        <a:solidFill>
                          <a:srgbClr val="000000"/>
                        </a:solidFill>
                        <a:effectLst/>
                        <a:latin typeface="&quot;Aptos Narrow&quot;"/>
                      </a:endParaRPr>
                    </a:p>
                  </a:txBody>
                  <a:tcPr marL="0" marR="0" marT="0" marB="0" anchor="ctr"/>
                </a:tc>
                <a:extLst>
                  <a:ext uri="{0D108BD9-81ED-4DB2-BD59-A6C34878D82A}">
                    <a16:rowId xmlns:a16="http://schemas.microsoft.com/office/drawing/2014/main" val="3309273354"/>
                  </a:ext>
                </a:extLst>
              </a:tr>
              <a:tr h="122033">
                <a:tc>
                  <a:txBody>
                    <a:bodyPr/>
                    <a:lstStyle/>
                    <a:p>
                      <a:pPr algn="l" fontAlgn="b"/>
                      <a:endParaRPr lang="en-US" sz="600" b="0" i="0" u="none" strike="noStrike">
                        <a:solidFill>
                          <a:srgbClr val="000000"/>
                        </a:solidFill>
                        <a:effectLst/>
                        <a:latin typeface="&quot;Aptos Narrow&quot;"/>
                      </a:endParaRPr>
                    </a:p>
                  </a:txBody>
                  <a:tcPr marL="0" marR="0" marT="0" marB="0" anchor="b"/>
                </a:tc>
                <a:tc gridSpan="3">
                  <a:txBody>
                    <a:bodyPr/>
                    <a:lstStyle/>
                    <a:p>
                      <a:pPr algn="l" fontAlgn="b"/>
                      <a:r>
                        <a:rPr lang="en-US" sz="600" u="none" strike="noStrike">
                          <a:effectLst/>
                        </a:rPr>
                        <a:t>Total Starting Balance for FY26 and then FY 27</a:t>
                      </a:r>
                      <a:endParaRPr lang="en-US" sz="600" b="0" i="0" u="none" strike="noStrike">
                        <a:solidFill>
                          <a:srgbClr val="000000"/>
                        </a:solidFill>
                        <a:effectLst/>
                        <a:latin typeface="&quot;Aptos Narrow&quot;"/>
                      </a:endParaRPr>
                    </a:p>
                  </a:txBody>
                  <a:tcPr marL="0" marR="0" marT="0" marB="0" anchor="b"/>
                </a:tc>
                <a:tc hMerge="1">
                  <a:txBody>
                    <a:bodyPr/>
                    <a:lstStyle/>
                    <a:p>
                      <a:endParaRPr lang="en-US"/>
                    </a:p>
                  </a:txBody>
                  <a:tcPr/>
                </a:tc>
                <a:tc hMerge="1">
                  <a:txBody>
                    <a:bodyPr/>
                    <a:lstStyle/>
                    <a:p>
                      <a:endParaRPr lang="en-US"/>
                    </a:p>
                  </a:txBody>
                  <a:tcPr/>
                </a:tc>
                <a:tc>
                  <a:txBody>
                    <a:bodyPr/>
                    <a:lstStyle/>
                    <a:p>
                      <a:pPr algn="ctr" fontAlgn="ctr"/>
                      <a:r>
                        <a:rPr lang="en-US" sz="600" u="none" strike="noStrike">
                          <a:effectLst/>
                        </a:rPr>
                        <a:t>$25,621</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ctr" fontAlgn="b"/>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ctr"/>
                      <a:r>
                        <a:rPr lang="en-US" sz="600" u="none" strike="noStrike">
                          <a:effectLst/>
                        </a:rPr>
                        <a:t>$10,318</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US" sz="600" u="none" strike="noStrike">
                          <a:effectLst/>
                        </a:rPr>
                        <a:t>$33,405</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b"/>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ctr"/>
                      <a:r>
                        <a:rPr lang="en-US" sz="600" u="none" strike="noStrike">
                          <a:effectLst/>
                        </a:rPr>
                        <a:t>$25,886</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ctr"/>
                      <a:r>
                        <a:rPr lang="en-US" sz="600" u="none" strike="noStrike">
                          <a:effectLst/>
                        </a:rPr>
                        <a:t>$45,621</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ctr" fontAlgn="b"/>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ctr"/>
                      <a:r>
                        <a:rPr lang="en-US" sz="600" u="none" strike="noStrike">
                          <a:effectLst/>
                        </a:rPr>
                        <a:t>$50,318</a:t>
                      </a:r>
                      <a:endParaRPr lang="en-US" sz="600" b="0" i="0" u="none" strike="noStrike">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1909178333"/>
                  </a:ext>
                </a:extLst>
              </a:tr>
              <a:tr h="122033">
                <a:tc>
                  <a:txBody>
                    <a:bodyPr/>
                    <a:lstStyle/>
                    <a:p>
                      <a:pPr algn="l" fontAlgn="b"/>
                      <a:endParaRPr lang="en-US" sz="600" b="0" i="0" u="none" strike="noStrike">
                        <a:solidFill>
                          <a:srgbClr val="000000"/>
                        </a:solidFill>
                        <a:effectLst/>
                        <a:latin typeface="&quot;Aptos Narrow&quot;"/>
                      </a:endParaRPr>
                    </a:p>
                  </a:txBody>
                  <a:tcPr marL="0" marR="0" marT="0" marB="0" anchor="b"/>
                </a:tc>
                <a:tc gridSpan="2">
                  <a:txBody>
                    <a:bodyPr/>
                    <a:lstStyle/>
                    <a:p>
                      <a:pPr algn="l" fontAlgn="b"/>
                      <a:endParaRPr lang="en-US" sz="600" b="0" i="0" u="none" strike="noStrike">
                        <a:solidFill>
                          <a:srgbClr val="000000"/>
                        </a:solidFill>
                        <a:effectLst/>
                        <a:latin typeface="&quot;Aptos Narrow&quot;"/>
                      </a:endParaRPr>
                    </a:p>
                  </a:txBody>
                  <a:tcPr marL="0" marR="0" marT="0" marB="0" anchor="b"/>
                </a:tc>
                <a:tc hMerge="1">
                  <a:txBody>
                    <a:bodyPr/>
                    <a:lstStyle/>
                    <a:p>
                      <a:pPr algn="l" fontAlgn="b"/>
                      <a:endParaRPr lang="en-US" sz="600" b="0" i="0" u="none" strike="noStrike">
                        <a:solidFill>
                          <a:srgbClr val="000000"/>
                        </a:solidFill>
                        <a:effectLst/>
                        <a:latin typeface="&quot;Aptos Narrow&quot;"/>
                      </a:endParaRPr>
                    </a:p>
                  </a:txBody>
                  <a:tcPr marL="0" marR="0" marT="0" marB="0" anchor="b"/>
                </a:tc>
                <a:tc>
                  <a:txBody>
                    <a:bodyPr/>
                    <a:lstStyle/>
                    <a:p>
                      <a:pPr algn="l" fontAlgn="b"/>
                      <a:endParaRPr lang="en-US" sz="600" b="0" i="0" u="none" strike="noStrike">
                        <a:solidFill>
                          <a:srgbClr val="000000"/>
                        </a:solidFill>
                        <a:effectLst/>
                        <a:latin typeface="&quot;Aptos Narrow&quot;"/>
                      </a:endParaRPr>
                    </a:p>
                  </a:txBody>
                  <a:tcPr marL="0" marR="0" marT="0" marB="0" anchor="b"/>
                </a:tc>
                <a:tc>
                  <a:txBody>
                    <a:bodyPr/>
                    <a:lstStyle/>
                    <a:p>
                      <a:pPr algn="l" fontAlgn="ct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ctr" fontAlgn="b"/>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ct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b"/>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b"/>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ct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ct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ctr" fontAlgn="b"/>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ctr"/>
                      <a:endParaRPr lang="en-US" sz="600" b="0" i="0" u="none" strike="noStrike">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126826148"/>
                  </a:ext>
                </a:extLst>
              </a:tr>
              <a:tr h="122033">
                <a:tc>
                  <a:txBody>
                    <a:bodyPr/>
                    <a:lstStyle/>
                    <a:p>
                      <a:pPr algn="l" fontAlgn="b"/>
                      <a:endParaRPr lang="en-US" sz="600" b="0" i="0" u="none" strike="noStrike">
                        <a:solidFill>
                          <a:srgbClr val="000000"/>
                        </a:solidFill>
                        <a:effectLst/>
                        <a:latin typeface="&quot;Aptos Narrow&quot;"/>
                      </a:endParaRPr>
                    </a:p>
                  </a:txBody>
                  <a:tcPr marL="0" marR="0" marT="0" marB="0" anchor="b"/>
                </a:tc>
                <a:tc gridSpan="3">
                  <a:txBody>
                    <a:bodyPr/>
                    <a:lstStyle/>
                    <a:p>
                      <a:pPr algn="ctr" fontAlgn="b"/>
                      <a:r>
                        <a:rPr lang="en-US" sz="600" u="none" strike="noStrike">
                          <a:effectLst/>
                        </a:rPr>
                        <a:t>Total Balance at End of FY26 (start FY 27)</a:t>
                      </a:r>
                      <a:endParaRPr lang="en-US" sz="600" b="0" i="0" u="none" strike="noStrike">
                        <a:solidFill>
                          <a:srgbClr val="000000"/>
                        </a:solidFill>
                        <a:effectLst/>
                        <a:latin typeface="&quot;Aptos Narrow&quot;"/>
                      </a:endParaRPr>
                    </a:p>
                  </a:txBody>
                  <a:tcPr marL="0" marR="0" marT="0" marB="0" anchor="b"/>
                </a:tc>
                <a:tc hMerge="1">
                  <a:txBody>
                    <a:bodyPr/>
                    <a:lstStyle/>
                    <a:p>
                      <a:endParaRPr lang="en-US"/>
                    </a:p>
                  </a:txBody>
                  <a:tcPr/>
                </a:tc>
                <a:tc hMerge="1">
                  <a:txBody>
                    <a:bodyPr/>
                    <a:lstStyle/>
                    <a:p>
                      <a:endParaRPr lang="en-US"/>
                    </a:p>
                  </a:txBody>
                  <a:tcPr/>
                </a:tc>
                <a:tc>
                  <a:txBody>
                    <a:bodyPr/>
                    <a:lstStyle/>
                    <a:p>
                      <a:pPr algn="ctr" fontAlgn="ctr"/>
                      <a:r>
                        <a:rPr lang="en-US" sz="600" u="none" strike="noStrike">
                          <a:effectLst/>
                        </a:rPr>
                        <a:t>$10,318</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ctr" fontAlgn="b"/>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ct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b"/>
                      <a:r>
                        <a:rPr lang="en-US" sz="600" u="none" strike="noStrike">
                          <a:effectLst/>
                        </a:rPr>
                        <a:t>$25,886</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b"/>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ct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ctr" fontAlgn="b"/>
                      <a:r>
                        <a:rPr lang="en-US" sz="600" u="none" strike="noStrike">
                          <a:effectLst/>
                        </a:rPr>
                        <a:t> </a:t>
                      </a:r>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ctr"/>
                      <a:r>
                        <a:rPr lang="en-US" sz="600" u="none" strike="noStrike">
                          <a:effectLst/>
                        </a:rPr>
                        <a:t>$50,318</a:t>
                      </a:r>
                      <a:endParaRPr lang="en-US" sz="600" b="0" i="0" u="none" strike="noStrike">
                        <a:solidFill>
                          <a:srgbClr val="000000"/>
                        </a:solidFill>
                        <a:effectLst/>
                        <a:latin typeface="Calibri" panose="020F0502020204030204" pitchFamily="34" charset="0"/>
                      </a:endParaRPr>
                    </a:p>
                  </a:txBody>
                  <a:tcPr marL="0" marR="0" marT="0" marB="0" anchor="ctr"/>
                </a:tc>
                <a:tc>
                  <a:txBody>
                    <a:bodyPr/>
                    <a:lstStyle/>
                    <a:p>
                      <a:pPr algn="ctr" fontAlgn="b"/>
                      <a:endParaRPr lang="en-US" sz="600" b="0" i="0" u="none" strike="noStrike">
                        <a:solidFill>
                          <a:srgbClr val="000000"/>
                        </a:solidFill>
                        <a:effectLst/>
                        <a:latin typeface="Calibri" panose="020F0502020204030204" pitchFamily="34" charset="0"/>
                      </a:endParaRPr>
                    </a:p>
                  </a:txBody>
                  <a:tcPr marL="0" marR="0" marT="0" marB="0" anchor="b"/>
                </a:tc>
                <a:tc>
                  <a:txBody>
                    <a:bodyPr/>
                    <a:lstStyle/>
                    <a:p>
                      <a:pPr algn="ctr" fontAlgn="ctr"/>
                      <a:endParaRPr lang="en-US" sz="600" b="0" i="0" u="none" strike="noStrike">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856478034"/>
                  </a:ext>
                </a:extLst>
              </a:tr>
              <a:tr h="122033">
                <a:tc>
                  <a:txBody>
                    <a:bodyPr/>
                    <a:lstStyle/>
                    <a:p>
                      <a:pPr algn="l" fontAlgn="b"/>
                      <a:endParaRPr lang="en-US" sz="600" b="0" i="0" u="none" strike="noStrike">
                        <a:solidFill>
                          <a:srgbClr val="000000"/>
                        </a:solidFill>
                        <a:effectLst/>
                        <a:latin typeface="&quot;Aptos Narrow&quot;"/>
                      </a:endParaRPr>
                    </a:p>
                  </a:txBody>
                  <a:tcPr marL="0" marR="0" marT="0" marB="0" anchor="b"/>
                </a:tc>
                <a:tc gridSpan="2">
                  <a:txBody>
                    <a:bodyPr/>
                    <a:lstStyle/>
                    <a:p>
                      <a:pPr algn="l" fontAlgn="b"/>
                      <a:endParaRPr lang="en-US" sz="600" b="0" i="0" u="none" strike="noStrike">
                        <a:solidFill>
                          <a:srgbClr val="000000"/>
                        </a:solidFill>
                        <a:effectLst/>
                        <a:latin typeface="&quot;Aptos Narrow&quot;"/>
                      </a:endParaRPr>
                    </a:p>
                  </a:txBody>
                  <a:tcPr marL="0" marR="0" marT="0" marB="0" anchor="b"/>
                </a:tc>
                <a:tc hMerge="1">
                  <a:txBody>
                    <a:bodyPr/>
                    <a:lstStyle/>
                    <a:p>
                      <a:pPr algn="l" fontAlgn="b"/>
                      <a:endParaRPr lang="en-US" sz="600" b="0" i="0" u="none" strike="noStrike">
                        <a:solidFill>
                          <a:srgbClr val="000000"/>
                        </a:solidFill>
                        <a:effectLst/>
                        <a:latin typeface="&quot;Aptos Narrow&quot;"/>
                      </a:endParaRPr>
                    </a:p>
                  </a:txBody>
                  <a:tcPr marL="0" marR="0" marT="0" marB="0" anchor="b"/>
                </a:tc>
                <a:tc>
                  <a:txBody>
                    <a:bodyPr/>
                    <a:lstStyle/>
                    <a:p>
                      <a:pPr algn="l" fontAlgn="b"/>
                      <a:endParaRPr lang="en-US" sz="600" b="0" i="0" u="none" strike="noStrike">
                        <a:solidFill>
                          <a:srgbClr val="000000"/>
                        </a:solidFill>
                        <a:effectLst/>
                        <a:latin typeface="&quot;Aptos Narrow&quot;"/>
                      </a:endParaRPr>
                    </a:p>
                  </a:txBody>
                  <a:tcPr marL="0" marR="0" marT="0" marB="0" anchor="b"/>
                </a:tc>
                <a:tc>
                  <a:txBody>
                    <a:bodyPr/>
                    <a:lstStyle/>
                    <a:p>
                      <a:pPr algn="l" fontAlgn="ctr"/>
                      <a:endParaRPr lang="en-US" sz="600" b="0" i="0" u="none" strike="noStrike">
                        <a:solidFill>
                          <a:srgbClr val="000000"/>
                        </a:solidFill>
                        <a:effectLst/>
                        <a:latin typeface="&quot;Aptos Narrow&quot;"/>
                      </a:endParaRPr>
                    </a:p>
                  </a:txBody>
                  <a:tcPr marL="0" marR="0" marT="0" marB="0" anchor="ctr"/>
                </a:tc>
                <a:tc>
                  <a:txBody>
                    <a:bodyPr/>
                    <a:lstStyle/>
                    <a:p>
                      <a:pPr algn="l" fontAlgn="b"/>
                      <a:endParaRPr lang="en-US" sz="600" b="0" i="0" u="none" strike="noStrike">
                        <a:solidFill>
                          <a:srgbClr val="000000"/>
                        </a:solidFill>
                        <a:effectLst/>
                        <a:latin typeface="&quot;Aptos Narrow&quot;"/>
                      </a:endParaRPr>
                    </a:p>
                  </a:txBody>
                  <a:tcPr marL="0" marR="0" marT="0" marB="0" anchor="b"/>
                </a:tc>
                <a:tc>
                  <a:txBody>
                    <a:bodyPr/>
                    <a:lstStyle/>
                    <a:p>
                      <a:pPr algn="l" fontAlgn="ctr"/>
                      <a:endParaRPr lang="en-US" sz="600" b="0" i="0" u="none" strike="noStrike">
                        <a:solidFill>
                          <a:srgbClr val="000000"/>
                        </a:solidFill>
                        <a:effectLst/>
                        <a:latin typeface="&quot;Aptos Narrow&quot;"/>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l" fontAlgn="b"/>
                      <a:endParaRPr lang="en-US" sz="600" b="0" i="0" u="none" strike="noStrike">
                        <a:solidFill>
                          <a:srgbClr val="000000"/>
                        </a:solidFill>
                        <a:effectLst/>
                        <a:latin typeface="&quot;Aptos Narrow&quot;"/>
                      </a:endParaRPr>
                    </a:p>
                  </a:txBody>
                  <a:tcPr marL="0" marR="0" marT="0" marB="0" anchor="b"/>
                </a:tc>
                <a:tc>
                  <a:txBody>
                    <a:bodyPr/>
                    <a:lstStyle/>
                    <a:p>
                      <a:pPr algn="l" fontAlgn="b"/>
                      <a:endParaRPr lang="en-US" sz="600" b="0" i="0" u="none" strike="noStrike">
                        <a:solidFill>
                          <a:srgbClr val="000000"/>
                        </a:solidFill>
                        <a:effectLst/>
                        <a:latin typeface="&quot;Aptos Narrow&quot;"/>
                      </a:endParaRPr>
                    </a:p>
                  </a:txBody>
                  <a:tcPr marL="0" marR="0" marT="0" marB="0" anchor="b"/>
                </a:tc>
                <a:tc>
                  <a:txBody>
                    <a:bodyPr/>
                    <a:lstStyle/>
                    <a:p>
                      <a:pPr algn="l" fontAlgn="ctr"/>
                      <a:endParaRPr lang="en-US" sz="600" b="0" i="0" u="none" strike="noStrike">
                        <a:solidFill>
                          <a:srgbClr val="000000"/>
                        </a:solidFill>
                        <a:effectLst/>
                        <a:latin typeface="&quot;Aptos Narrow&quot;"/>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l" fontAlgn="ctr"/>
                      <a:endParaRPr lang="en-US" sz="600" b="0" i="0" u="none" strike="noStrike">
                        <a:solidFill>
                          <a:srgbClr val="000000"/>
                        </a:solidFill>
                        <a:effectLst/>
                        <a:latin typeface="&quot;Aptos Narrow&quot;"/>
                      </a:endParaRPr>
                    </a:p>
                  </a:txBody>
                  <a:tcPr marL="0" marR="0" marT="0" marB="0" anchor="ctr"/>
                </a:tc>
                <a:tc>
                  <a:txBody>
                    <a:bodyPr/>
                    <a:lstStyle/>
                    <a:p>
                      <a:pPr algn="l" fontAlgn="b"/>
                      <a:endParaRPr lang="en-US" sz="600" b="0" i="0" u="none" strike="noStrike">
                        <a:solidFill>
                          <a:srgbClr val="000000"/>
                        </a:solidFill>
                        <a:effectLst/>
                        <a:latin typeface="&quot;Aptos Narrow&quot;"/>
                      </a:endParaRPr>
                    </a:p>
                  </a:txBody>
                  <a:tcPr marL="0" marR="0" marT="0" marB="0" anchor="b"/>
                </a:tc>
                <a:tc>
                  <a:txBody>
                    <a:bodyPr/>
                    <a:lstStyle/>
                    <a:p>
                      <a:pPr algn="l" fontAlgn="ctr"/>
                      <a:endParaRPr lang="en-US" sz="600" b="0" i="0" u="none" strike="noStrike">
                        <a:solidFill>
                          <a:srgbClr val="000000"/>
                        </a:solidFill>
                        <a:effectLst/>
                        <a:latin typeface="&quot;Aptos Narrow&quot;"/>
                      </a:endParaRPr>
                    </a:p>
                  </a:txBody>
                  <a:tcPr marL="0" marR="0" marT="0" marB="0" anchor="ctr"/>
                </a:tc>
                <a:extLst>
                  <a:ext uri="{0D108BD9-81ED-4DB2-BD59-A6C34878D82A}">
                    <a16:rowId xmlns:a16="http://schemas.microsoft.com/office/drawing/2014/main" val="703673210"/>
                  </a:ext>
                </a:extLst>
              </a:tr>
              <a:tr h="122033">
                <a:tc>
                  <a:txBody>
                    <a:bodyPr/>
                    <a:lstStyle/>
                    <a:p>
                      <a:pPr algn="l" fontAlgn="b"/>
                      <a:endParaRPr lang="en-US" sz="600" b="0" i="0" u="none" strike="noStrike">
                        <a:solidFill>
                          <a:srgbClr val="000000"/>
                        </a:solidFill>
                        <a:effectLst/>
                        <a:latin typeface="&quot;Aptos Narrow&quot;"/>
                      </a:endParaRPr>
                    </a:p>
                  </a:txBody>
                  <a:tcPr marL="0" marR="0" marT="0" marB="0" anchor="b"/>
                </a:tc>
                <a:tc gridSpan="2">
                  <a:txBody>
                    <a:bodyPr/>
                    <a:lstStyle/>
                    <a:p>
                      <a:pPr algn="l" fontAlgn="b"/>
                      <a:endParaRPr lang="en-US" sz="600" b="0" i="0" u="none" strike="noStrike">
                        <a:solidFill>
                          <a:srgbClr val="000000"/>
                        </a:solidFill>
                        <a:effectLst/>
                        <a:latin typeface="&quot;Aptos Narrow&quot;"/>
                      </a:endParaRPr>
                    </a:p>
                  </a:txBody>
                  <a:tcPr marL="0" marR="0" marT="0" marB="0" anchor="b"/>
                </a:tc>
                <a:tc hMerge="1">
                  <a:txBody>
                    <a:bodyPr/>
                    <a:lstStyle/>
                    <a:p>
                      <a:pPr algn="l" fontAlgn="b"/>
                      <a:endParaRPr lang="en-US" sz="600" b="0" i="0" u="none" strike="noStrike">
                        <a:solidFill>
                          <a:srgbClr val="000000"/>
                        </a:solidFill>
                        <a:effectLst/>
                        <a:latin typeface="&quot;Aptos Narrow&quot;"/>
                      </a:endParaRPr>
                    </a:p>
                  </a:txBody>
                  <a:tcPr marL="0" marR="0" marT="0" marB="0" anchor="b"/>
                </a:tc>
                <a:tc gridSpan="3">
                  <a:txBody>
                    <a:bodyPr/>
                    <a:lstStyle/>
                    <a:p>
                      <a:pPr algn="ctr" fontAlgn="b"/>
                      <a:r>
                        <a:rPr lang="en-US" sz="600" u="none" strike="noStrike" dirty="0">
                          <a:effectLst/>
                        </a:rPr>
                        <a:t>Total Balance at End of FY27</a:t>
                      </a:r>
                      <a:endParaRPr lang="en-US" sz="600" b="0" i="0" u="none" strike="noStrike" dirty="0">
                        <a:solidFill>
                          <a:srgbClr val="000000"/>
                        </a:solidFill>
                        <a:effectLst/>
                        <a:latin typeface="&quot;Aptos Narrow&quot;"/>
                      </a:endParaRPr>
                    </a:p>
                  </a:txBody>
                  <a:tcPr marL="0" marR="0" marT="0" marB="0" anchor="b"/>
                </a:tc>
                <a:tc hMerge="1">
                  <a:txBody>
                    <a:bodyPr/>
                    <a:lstStyle/>
                    <a:p>
                      <a:endParaRPr lang="en-US"/>
                    </a:p>
                  </a:txBody>
                  <a:tcPr/>
                </a:tc>
                <a:tc hMerge="1">
                  <a:txBody>
                    <a:bodyPr/>
                    <a:lstStyle/>
                    <a:p>
                      <a:endParaRPr lang="en-US"/>
                    </a:p>
                  </a:txBody>
                  <a:tcPr/>
                </a:tc>
                <a:tc>
                  <a:txBody>
                    <a:bodyPr/>
                    <a:lstStyle/>
                    <a:p>
                      <a:pPr algn="r" fontAlgn="ctr"/>
                      <a:r>
                        <a:rPr lang="en-US" sz="600" u="none" strike="noStrike">
                          <a:effectLst/>
                        </a:rPr>
                        <a:t>$1,852</a:t>
                      </a:r>
                      <a:endParaRPr lang="en-US" sz="600" b="0" i="0" u="none" strike="noStrike">
                        <a:solidFill>
                          <a:srgbClr val="000000"/>
                        </a:solidFill>
                        <a:effectLst/>
                        <a:latin typeface="&quot;Aptos Narrow&quot;"/>
                      </a:endParaRPr>
                    </a:p>
                  </a:txBody>
                  <a:tcPr marL="0" marR="0" marT="0" marB="0" anchor="ctr"/>
                </a:tc>
                <a:tc>
                  <a:txBody>
                    <a:bodyPr/>
                    <a:lstStyle/>
                    <a:p>
                      <a:pPr algn="r"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l" fontAlgn="b"/>
                      <a:endParaRPr lang="en-US" sz="600" b="0" i="0" u="none" strike="noStrike">
                        <a:solidFill>
                          <a:srgbClr val="000000"/>
                        </a:solidFill>
                        <a:effectLst/>
                        <a:latin typeface="&quot;Aptos Narrow&quot;"/>
                      </a:endParaRPr>
                    </a:p>
                  </a:txBody>
                  <a:tcPr marL="0" marR="0" marT="0" marB="0" anchor="b"/>
                </a:tc>
                <a:tc>
                  <a:txBody>
                    <a:bodyPr/>
                    <a:lstStyle/>
                    <a:p>
                      <a:pPr algn="l" fontAlgn="b"/>
                      <a:endParaRPr lang="en-US" sz="600" b="0" i="0" u="none" strike="noStrike">
                        <a:solidFill>
                          <a:srgbClr val="000000"/>
                        </a:solidFill>
                        <a:effectLst/>
                        <a:latin typeface="&quot;Aptos Narrow&quot;"/>
                      </a:endParaRPr>
                    </a:p>
                  </a:txBody>
                  <a:tcPr marL="0" marR="0" marT="0" marB="0" anchor="b"/>
                </a:tc>
                <a:tc>
                  <a:txBody>
                    <a:bodyPr/>
                    <a:lstStyle/>
                    <a:p>
                      <a:pPr algn="r" fontAlgn="ctr"/>
                      <a:r>
                        <a:rPr lang="en-US" sz="600" u="none" strike="noStrike">
                          <a:effectLst/>
                        </a:rPr>
                        <a:t>$25,204</a:t>
                      </a:r>
                      <a:endParaRPr lang="en-US" sz="600" b="0" i="0" u="none" strike="noStrike">
                        <a:solidFill>
                          <a:srgbClr val="000000"/>
                        </a:solidFill>
                        <a:effectLst/>
                        <a:latin typeface="&quot;Aptos Narrow&quot;"/>
                      </a:endParaRPr>
                    </a:p>
                  </a:txBody>
                  <a:tcPr marL="0" marR="0" marT="0" marB="0" anchor="ctr"/>
                </a:tc>
                <a:tc>
                  <a:txBody>
                    <a:bodyPr/>
                    <a:lstStyle/>
                    <a:p>
                      <a:pPr algn="l" fontAlgn="b"/>
                      <a:r>
                        <a:rPr lang="en-US" sz="600" u="none" strike="noStrike">
                          <a:effectLst/>
                        </a:rPr>
                        <a:t> </a:t>
                      </a:r>
                      <a:endParaRPr lang="en-US" sz="600" b="0" i="0" u="none" strike="noStrike">
                        <a:solidFill>
                          <a:srgbClr val="000000"/>
                        </a:solidFill>
                        <a:effectLst/>
                        <a:latin typeface="&quot;Aptos Narrow&quot;"/>
                      </a:endParaRPr>
                    </a:p>
                  </a:txBody>
                  <a:tcPr marL="0" marR="0" marT="0" marB="0" anchor="b"/>
                </a:tc>
                <a:tc>
                  <a:txBody>
                    <a:bodyPr/>
                    <a:lstStyle/>
                    <a:p>
                      <a:pPr algn="l" fontAlgn="ctr"/>
                      <a:endParaRPr lang="en-US" sz="600" b="0" i="0" u="none" strike="noStrike">
                        <a:solidFill>
                          <a:srgbClr val="000000"/>
                        </a:solidFill>
                        <a:effectLst/>
                        <a:latin typeface="&quot;Aptos Narrow&quot;"/>
                      </a:endParaRPr>
                    </a:p>
                  </a:txBody>
                  <a:tcPr marL="0" marR="0" marT="0" marB="0" anchor="ctr"/>
                </a:tc>
                <a:tc>
                  <a:txBody>
                    <a:bodyPr/>
                    <a:lstStyle/>
                    <a:p>
                      <a:pPr algn="l" fontAlgn="b"/>
                      <a:endParaRPr lang="en-US" sz="600" b="0" i="0" u="none" strike="noStrike">
                        <a:solidFill>
                          <a:srgbClr val="000000"/>
                        </a:solidFill>
                        <a:effectLst/>
                        <a:latin typeface="&quot;Aptos Narrow&quot;"/>
                      </a:endParaRPr>
                    </a:p>
                  </a:txBody>
                  <a:tcPr marL="0" marR="0" marT="0" marB="0" anchor="b"/>
                </a:tc>
                <a:tc>
                  <a:txBody>
                    <a:bodyPr/>
                    <a:lstStyle/>
                    <a:p>
                      <a:pPr algn="r" fontAlgn="ctr"/>
                      <a:r>
                        <a:rPr lang="en-US" sz="600" u="none" strike="noStrike" dirty="0">
                          <a:effectLst/>
                        </a:rPr>
                        <a:t>$61,852</a:t>
                      </a:r>
                      <a:endParaRPr lang="en-US" sz="600" b="0" i="0" u="none" strike="noStrike" dirty="0">
                        <a:solidFill>
                          <a:srgbClr val="000000"/>
                        </a:solidFill>
                        <a:effectLst/>
                        <a:latin typeface="&quot;Aptos Narrow&quot;"/>
                      </a:endParaRPr>
                    </a:p>
                  </a:txBody>
                  <a:tcPr marL="0" marR="0" marT="0" marB="0" anchor="ctr"/>
                </a:tc>
                <a:extLst>
                  <a:ext uri="{0D108BD9-81ED-4DB2-BD59-A6C34878D82A}">
                    <a16:rowId xmlns:a16="http://schemas.microsoft.com/office/drawing/2014/main" val="1972110642"/>
                  </a:ext>
                </a:extLst>
              </a:tr>
            </a:tbl>
          </a:graphicData>
        </a:graphic>
      </p:graphicFrame>
      <p:sp>
        <p:nvSpPr>
          <p:cNvPr id="3" name="Title 2">
            <a:extLst>
              <a:ext uri="{FF2B5EF4-FFF2-40B4-BE49-F238E27FC236}">
                <a16:creationId xmlns:a16="http://schemas.microsoft.com/office/drawing/2014/main" id="{2EF35927-12CC-F7EE-9A89-A96C300609FB}"/>
              </a:ext>
            </a:extLst>
          </p:cNvPr>
          <p:cNvSpPr>
            <a:spLocks noGrp="1"/>
          </p:cNvSpPr>
          <p:nvPr>
            <p:ph type="title"/>
          </p:nvPr>
        </p:nvSpPr>
        <p:spPr>
          <a:xfrm>
            <a:off x="822960" y="54591"/>
            <a:ext cx="4963691" cy="238836"/>
          </a:xfrm>
        </p:spPr>
        <p:txBody>
          <a:bodyPr>
            <a:noAutofit/>
          </a:bodyPr>
          <a:lstStyle/>
          <a:p>
            <a:r>
              <a:rPr lang="en-US" sz="1400" b="1" dirty="0"/>
              <a:t>End bank account balances under each of scenarios 1, 2 and 3</a:t>
            </a:r>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1589</TotalTime>
  <Words>1264</Words>
  <Application>Microsoft Macintosh PowerPoint</Application>
  <PresentationFormat>On-screen Show (16:9)</PresentationFormat>
  <Paragraphs>362</Paragraphs>
  <Slides>7</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 Narrow"</vt:lpstr>
      <vt:lpstr>Arial</vt:lpstr>
      <vt:lpstr>Calibri</vt:lpstr>
      <vt:lpstr>Calibri Light</vt:lpstr>
      <vt:lpstr>Retrospect</vt:lpstr>
      <vt:lpstr>CHCCA Treasurer’s Report</vt:lpstr>
      <vt:lpstr>Agenda</vt:lpstr>
      <vt:lpstr>PowerPoint Presentation</vt:lpstr>
      <vt:lpstr>Financial Highlights from FY24</vt:lpstr>
      <vt:lpstr>Proposed New and Necessary Expenses &amp; Line Changes</vt:lpstr>
      <vt:lpstr>Condo Fee Increase Proposals in Anticipation of Significant Insurance Increases And Associated FY 25 Budget Proposals</vt:lpstr>
      <vt:lpstr>End bank account balances under each of scenarios 1, 2 and 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Laurie Hutcheson</dc:creator>
  <cp:lastModifiedBy>Nancy Ide</cp:lastModifiedBy>
  <cp:revision>9</cp:revision>
  <dcterms:modified xsi:type="dcterms:W3CDTF">2024-10-16T19:40:22Z</dcterms:modified>
</cp:coreProperties>
</file>