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6"/>
  </p:notesMasterIdLst>
  <p:sldIdLst>
    <p:sldId id="256" r:id="rId2"/>
    <p:sldId id="257" r:id="rId3"/>
    <p:sldId id="258" r:id="rId4"/>
    <p:sldId id="259" r:id="rId5"/>
    <p:sldId id="260" r:id="rId6"/>
    <p:sldId id="261" r:id="rId7"/>
    <p:sldId id="262" r:id="rId8"/>
    <p:sldId id="270" r:id="rId9"/>
    <p:sldId id="268" r:id="rId10"/>
    <p:sldId id="263" r:id="rId11"/>
    <p:sldId id="271" r:id="rId12"/>
    <p:sldId id="269" r:id="rId13"/>
    <p:sldId id="265" r:id="rId14"/>
    <p:sldId id="267" r:id="rId1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79"/>
    <p:restoredTop sz="88844"/>
  </p:normalViewPr>
  <p:slideViewPr>
    <p:cSldViewPr snapToGrid="0">
      <p:cViewPr varScale="1">
        <p:scale>
          <a:sx n="132" d="100"/>
          <a:sy n="132" d="100"/>
        </p:scale>
        <p:origin x="1984" y="4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3aadac87c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3aadac87c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3aadac87c8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3aadac87c8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326d02377f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326d02377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3aadac87c8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3aadac87c8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326d02377f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326d02377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326d02377f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326d02377f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3aadac87c8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3aadac87c8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273441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dd279141e6_3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dd279141e6_3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002884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5" r:id="rId6"/>
    <p:sldLayoutId id="2147483656" r:id="rId7"/>
    <p:sldLayoutId id="2147483657"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BENEFICIAL INTEREST</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CORN HILL CONDOMINIUM ASSOCIATION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BENEFICIAL INTEREST</a:t>
            </a:r>
            <a:endParaRPr/>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1400"/>
              </a:spcBef>
              <a:spcAft>
                <a:spcPts val="0"/>
              </a:spcAft>
              <a:buClr>
                <a:schemeClr val="dk1"/>
              </a:buClr>
              <a:buSzPts val="1100"/>
              <a:buFont typeface="Arial"/>
              <a:buNone/>
            </a:pPr>
            <a:r>
              <a:rPr lang="en" sz="1300" b="1">
                <a:solidFill>
                  <a:schemeClr val="dk1"/>
                </a:solidFill>
              </a:rPr>
              <a:t> </a:t>
            </a:r>
            <a:r>
              <a:rPr lang="en" sz="2300" b="1">
                <a:solidFill>
                  <a:schemeClr val="dk1"/>
                </a:solidFill>
              </a:rPr>
              <a:t>Introduction</a:t>
            </a:r>
            <a:endParaRPr sz="2300" b="1">
              <a:solidFill>
                <a:schemeClr val="dk1"/>
              </a:solidFill>
            </a:endParaRPr>
          </a:p>
          <a:p>
            <a:pPr marL="0" lvl="0" indent="0" algn="l" rtl="0">
              <a:spcBef>
                <a:spcPts val="1400"/>
              </a:spcBef>
              <a:spcAft>
                <a:spcPts val="0"/>
              </a:spcAft>
              <a:buClr>
                <a:schemeClr val="dk1"/>
              </a:buClr>
              <a:buSzPts val="1100"/>
              <a:buFont typeface="Arial"/>
              <a:buNone/>
            </a:pPr>
            <a:r>
              <a:rPr lang="en" sz="1300" b="1">
                <a:solidFill>
                  <a:schemeClr val="dk1"/>
                </a:solidFill>
              </a:rPr>
              <a:t> </a:t>
            </a:r>
            <a:r>
              <a:rPr lang="en" sz="1500" b="1">
                <a:solidFill>
                  <a:schemeClr val="dk1"/>
                </a:solidFill>
              </a:rPr>
              <a:t>What is Beneficial Interest?</a:t>
            </a:r>
            <a:endParaRPr sz="1500" b="1">
              <a:solidFill>
                <a:schemeClr val="dk1"/>
              </a:solidFill>
            </a:endParaRPr>
          </a:p>
          <a:p>
            <a:pPr marL="457200" lvl="0" indent="-304800" algn="l" rtl="0">
              <a:spcBef>
                <a:spcPts val="1500"/>
              </a:spcBef>
              <a:spcAft>
                <a:spcPts val="0"/>
              </a:spcAft>
              <a:buClr>
                <a:schemeClr val="dk1"/>
              </a:buClr>
              <a:buSzPts val="1200"/>
              <a:buChar char="●"/>
            </a:pPr>
            <a:r>
              <a:rPr lang="en" sz="1200">
                <a:solidFill>
                  <a:schemeClr val="dk1"/>
                </a:solidFill>
              </a:rPr>
              <a:t>Beneficial interest is the percentage of ownership that the owner of each condominium unit is entitled to in the common areas and facilities of a condominium.</a:t>
            </a:r>
            <a:endParaRPr sz="1200" b="1">
              <a:solidFill>
                <a:schemeClr val="dk1"/>
              </a:solidFill>
            </a:endParaRPr>
          </a:p>
          <a:p>
            <a:pPr marL="457200" lvl="0" indent="457200" algn="l" rtl="0">
              <a:spcBef>
                <a:spcPts val="1500"/>
              </a:spcBef>
              <a:spcAft>
                <a:spcPts val="0"/>
              </a:spcAft>
              <a:buNone/>
            </a:pPr>
            <a:r>
              <a:rPr lang="en" sz="1100" b="1">
                <a:solidFill>
                  <a:schemeClr val="dk1"/>
                </a:solidFill>
              </a:rPr>
              <a:t>Importance:</a:t>
            </a:r>
            <a:r>
              <a:rPr lang="en" sz="1100">
                <a:solidFill>
                  <a:schemeClr val="dk1"/>
                </a:solidFill>
              </a:rPr>
              <a:t> It influences many essential parts of condominium governance, from budgeting to voting.</a:t>
            </a:r>
            <a:endParaRPr sz="1100">
              <a:solidFill>
                <a:schemeClr val="dk1"/>
              </a:solidFill>
            </a:endParaRPr>
          </a:p>
          <a:p>
            <a:pPr marL="0" lvl="0" indent="0" algn="l" rtl="0">
              <a:spcBef>
                <a:spcPts val="1500"/>
              </a:spcBef>
              <a:spcAft>
                <a:spcPts val="400"/>
              </a:spcAft>
              <a:buNone/>
            </a:pPr>
            <a:r>
              <a:rPr lang="en" sz="1251">
                <a:solidFill>
                  <a:schemeClr val="dk1"/>
                </a:solidFill>
              </a:rPr>
              <a:t>Also sometimes referred to as “undivided interest,” beneficial interest is typically listed by unit in an exhibit or schedule to the master deed of a condominium. The beneficial interest of each unit must also be listed in the unit deed, pursuant to the Massachusetts Condominium Statute, General Laws Chapter 183A (“Chapter 183A”), Section 9. The total of all unit beneficial interests should add up to one hundred percent, that is, one hundred percent of the ownership of the common areas.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990"/>
              <a:buFont typeface="Arial"/>
              <a:buNone/>
            </a:pPr>
            <a:r>
              <a:rPr lang="en" sz="1970" b="1"/>
              <a:t>Development of Beneficial Interest</a:t>
            </a:r>
            <a:endParaRPr sz="1970" b="1"/>
          </a:p>
          <a:p>
            <a:pPr marL="0" lvl="0" indent="0" algn="l" rtl="0">
              <a:spcBef>
                <a:spcPts val="400"/>
              </a:spcBef>
              <a:spcAft>
                <a:spcPts val="0"/>
              </a:spcAft>
              <a:buSzPts val="990"/>
              <a:buNone/>
            </a:pPr>
            <a:endParaRPr sz="1170" b="1"/>
          </a:p>
        </p:txBody>
      </p:sp>
      <p:sp>
        <p:nvSpPr>
          <p:cNvPr id="67" name="Google Shape;67;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0" algn="l" rtl="0">
              <a:spcBef>
                <a:spcPts val="1500"/>
              </a:spcBef>
              <a:spcAft>
                <a:spcPts val="0"/>
              </a:spcAft>
              <a:buNone/>
            </a:pPr>
            <a:r>
              <a:rPr lang="en" sz="1600" b="1">
                <a:solidFill>
                  <a:schemeClr val="dk1"/>
                </a:solidFill>
              </a:rPr>
              <a:t>Setting Beneficial Interest:</a:t>
            </a:r>
            <a:r>
              <a:rPr lang="en" sz="1600">
                <a:solidFill>
                  <a:schemeClr val="dk1"/>
                </a:solidFill>
              </a:rPr>
              <a:t> Developers set the beneficial interest of each unit as units are created in the master deed.</a:t>
            </a:r>
            <a:endParaRPr sz="1600">
              <a:solidFill>
                <a:schemeClr val="dk1"/>
              </a:solidFill>
            </a:endParaRPr>
          </a:p>
          <a:p>
            <a:pPr marL="457200" lvl="0" indent="0" algn="l" rtl="0">
              <a:spcBef>
                <a:spcPts val="1500"/>
              </a:spcBef>
              <a:spcAft>
                <a:spcPts val="0"/>
              </a:spcAft>
              <a:buNone/>
            </a:pPr>
            <a:endParaRPr sz="1600" b="1">
              <a:solidFill>
                <a:schemeClr val="dk1"/>
              </a:solidFill>
            </a:endParaRPr>
          </a:p>
          <a:p>
            <a:pPr marL="457200" lvl="0" indent="0" algn="l" rtl="0">
              <a:spcBef>
                <a:spcPts val="1500"/>
              </a:spcBef>
              <a:spcAft>
                <a:spcPts val="0"/>
              </a:spcAft>
              <a:buNone/>
            </a:pPr>
            <a:r>
              <a:rPr lang="en" sz="1600" b="1">
                <a:solidFill>
                  <a:schemeClr val="dk1"/>
                </a:solidFill>
              </a:rPr>
              <a:t>Legal Framework:</a:t>
            </a:r>
            <a:r>
              <a:rPr lang="en" sz="1600">
                <a:solidFill>
                  <a:schemeClr val="dk1"/>
                </a:solidFill>
              </a:rPr>
              <a:t> According to Chapter 183A, Section 5, the beneficial interest of each unit is in the approximate relation that the fair value of the unit on the date of the master deed bears to the then aggregate fair value of all the units.</a:t>
            </a:r>
            <a:endParaRPr sz="1600">
              <a:solidFill>
                <a:schemeClr val="dk1"/>
              </a:solidFill>
            </a:endParaRPr>
          </a:p>
          <a:p>
            <a:pPr marL="0" lvl="0" indent="0" algn="l" rtl="0">
              <a:spcBef>
                <a:spcPts val="1500"/>
              </a:spcBef>
              <a:spcAft>
                <a:spcPts val="1200"/>
              </a:spcAft>
              <a:buNone/>
            </a:pPr>
            <a:endParaRPr sz="2300"/>
          </a:p>
        </p:txBody>
      </p:sp>
      <p:sp>
        <p:nvSpPr>
          <p:cNvPr id="68" name="Google Shape;68;p15"/>
          <p:cNvSpPr/>
          <p:nvPr/>
        </p:nvSpPr>
        <p:spPr>
          <a:xfrm>
            <a:off x="102125" y="1420488"/>
            <a:ext cx="681300" cy="3150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9" name="Google Shape;69;p15"/>
          <p:cNvSpPr/>
          <p:nvPr/>
        </p:nvSpPr>
        <p:spPr>
          <a:xfrm>
            <a:off x="102125" y="2650598"/>
            <a:ext cx="681300" cy="3150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990"/>
              <a:buFont typeface="Arial"/>
              <a:buNone/>
            </a:pPr>
            <a:r>
              <a:rPr lang="en" sz="2120" b="1"/>
              <a:t>Establishing Beneficial Interest</a:t>
            </a:r>
            <a:endParaRPr sz="2120" b="1"/>
          </a:p>
          <a:p>
            <a:pPr marL="0" lvl="0" indent="0" algn="l" rtl="0">
              <a:spcBef>
                <a:spcPts val="400"/>
              </a:spcBef>
              <a:spcAft>
                <a:spcPts val="0"/>
              </a:spcAft>
              <a:buSzPts val="990"/>
              <a:buNone/>
            </a:pPr>
            <a:endParaRPr sz="2520"/>
          </a:p>
        </p:txBody>
      </p:sp>
      <p:sp>
        <p:nvSpPr>
          <p:cNvPr id="75" name="Google Shape;75;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0" algn="l" rtl="0">
              <a:spcBef>
                <a:spcPts val="1500"/>
              </a:spcBef>
              <a:spcAft>
                <a:spcPts val="0"/>
              </a:spcAft>
              <a:buNone/>
            </a:pPr>
            <a:r>
              <a:rPr lang="en" sz="1600" b="1">
                <a:solidFill>
                  <a:schemeClr val="dk1"/>
                </a:solidFill>
              </a:rPr>
              <a:t>Master Deed:</a:t>
            </a:r>
            <a:r>
              <a:rPr lang="en" sz="1600">
                <a:solidFill>
                  <a:schemeClr val="dk1"/>
                </a:solidFill>
              </a:rPr>
              <a:t> Beneficial interest is typically listed by unit in an exhibit or schedule to the master deed of a condominium.</a:t>
            </a:r>
            <a:endParaRPr sz="1600">
              <a:solidFill>
                <a:schemeClr val="dk1"/>
              </a:solidFill>
            </a:endParaRPr>
          </a:p>
          <a:p>
            <a:pPr marL="457200" lvl="0" indent="0" algn="l" rtl="0">
              <a:spcBef>
                <a:spcPts val="1500"/>
              </a:spcBef>
              <a:spcAft>
                <a:spcPts val="0"/>
              </a:spcAft>
              <a:buNone/>
            </a:pPr>
            <a:endParaRPr sz="1600" b="1">
              <a:solidFill>
                <a:schemeClr val="dk1"/>
              </a:solidFill>
            </a:endParaRPr>
          </a:p>
          <a:p>
            <a:pPr marL="457200" lvl="0" indent="0" algn="l" rtl="0">
              <a:spcBef>
                <a:spcPts val="1500"/>
              </a:spcBef>
              <a:spcAft>
                <a:spcPts val="0"/>
              </a:spcAft>
              <a:buNone/>
            </a:pPr>
            <a:r>
              <a:rPr lang="en" sz="1600" b="1">
                <a:solidFill>
                  <a:schemeClr val="dk1"/>
                </a:solidFill>
              </a:rPr>
              <a:t>Unit Deed:</a:t>
            </a:r>
            <a:r>
              <a:rPr lang="en" sz="1600">
                <a:solidFill>
                  <a:schemeClr val="dk1"/>
                </a:solidFill>
              </a:rPr>
              <a:t> The beneficial interest of each unit must also be listed in the unit deed.</a:t>
            </a:r>
            <a:endParaRPr sz="1600">
              <a:solidFill>
                <a:schemeClr val="dk1"/>
              </a:solidFill>
            </a:endParaRPr>
          </a:p>
          <a:p>
            <a:pPr marL="457200" lvl="0" indent="0" algn="l" rtl="0">
              <a:spcBef>
                <a:spcPts val="1500"/>
              </a:spcBef>
              <a:spcAft>
                <a:spcPts val="0"/>
              </a:spcAft>
              <a:buNone/>
            </a:pPr>
            <a:endParaRPr sz="1600" b="1">
              <a:solidFill>
                <a:schemeClr val="dk1"/>
              </a:solidFill>
            </a:endParaRPr>
          </a:p>
          <a:p>
            <a:pPr marL="457200" lvl="0" indent="0" algn="l" rtl="0">
              <a:spcBef>
                <a:spcPts val="1500"/>
              </a:spcBef>
              <a:spcAft>
                <a:spcPts val="0"/>
              </a:spcAft>
              <a:buNone/>
            </a:pPr>
            <a:r>
              <a:rPr lang="en" sz="1600" b="1">
                <a:solidFill>
                  <a:schemeClr val="dk1"/>
                </a:solidFill>
              </a:rPr>
              <a:t>Voting Rights:</a:t>
            </a:r>
            <a:r>
              <a:rPr lang="en" sz="1600">
                <a:solidFill>
                  <a:schemeClr val="dk1"/>
                </a:solidFill>
              </a:rPr>
              <a:t> Each unit owner is entitled to vote in the amount of their beneficial interest.</a:t>
            </a:r>
            <a:endParaRPr sz="1600">
              <a:solidFill>
                <a:schemeClr val="dk1"/>
              </a:solidFill>
            </a:endParaRPr>
          </a:p>
          <a:p>
            <a:pPr marL="0" lvl="0" indent="0" algn="l" rtl="0">
              <a:spcBef>
                <a:spcPts val="1500"/>
              </a:spcBef>
              <a:spcAft>
                <a:spcPts val="1200"/>
              </a:spcAft>
              <a:buNone/>
            </a:pPr>
            <a:endParaRPr/>
          </a:p>
        </p:txBody>
      </p:sp>
      <p:sp>
        <p:nvSpPr>
          <p:cNvPr id="76" name="Google Shape;76;p16"/>
          <p:cNvSpPr/>
          <p:nvPr/>
        </p:nvSpPr>
        <p:spPr>
          <a:xfrm>
            <a:off x="81391" y="1439425"/>
            <a:ext cx="681300" cy="3150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7" name="Google Shape;77;p16"/>
          <p:cNvSpPr/>
          <p:nvPr/>
        </p:nvSpPr>
        <p:spPr>
          <a:xfrm>
            <a:off x="81391" y="2571750"/>
            <a:ext cx="681300" cy="3150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8" name="Google Shape;78;p16"/>
          <p:cNvSpPr/>
          <p:nvPr/>
        </p:nvSpPr>
        <p:spPr>
          <a:xfrm>
            <a:off x="81391" y="3570605"/>
            <a:ext cx="681300" cy="3150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990"/>
              <a:buFont typeface="Arial"/>
              <a:buNone/>
            </a:pPr>
            <a:r>
              <a:rPr lang="en" sz="2070" b="1"/>
              <a:t>Meaning and Implications of Beneficial Interest</a:t>
            </a:r>
            <a:endParaRPr sz="2070" b="1"/>
          </a:p>
          <a:p>
            <a:pPr marL="0" lvl="0" indent="0" algn="l" rtl="0">
              <a:spcBef>
                <a:spcPts val="400"/>
              </a:spcBef>
              <a:spcAft>
                <a:spcPts val="0"/>
              </a:spcAft>
              <a:buSzPts val="990"/>
              <a:buNone/>
            </a:pPr>
            <a:endParaRPr sz="1570" b="1"/>
          </a:p>
        </p:txBody>
      </p:sp>
      <p:sp>
        <p:nvSpPr>
          <p:cNvPr id="84" name="Google Shape;84;p17"/>
          <p:cNvSpPr txBox="1">
            <a:spLocks noGrp="1"/>
          </p:cNvSpPr>
          <p:nvPr>
            <p:ph type="body" idx="1"/>
          </p:nvPr>
        </p:nvSpPr>
        <p:spPr>
          <a:xfrm>
            <a:off x="311700" y="1126925"/>
            <a:ext cx="8520600" cy="3416400"/>
          </a:xfrm>
          <a:prstGeom prst="rect">
            <a:avLst/>
          </a:prstGeom>
        </p:spPr>
        <p:txBody>
          <a:bodyPr spcFirstLastPara="1" wrap="square" lIns="91425" tIns="91425" rIns="91425" bIns="91425" anchor="t" anchorCtr="0">
            <a:normAutofit/>
          </a:bodyPr>
          <a:lstStyle/>
          <a:p>
            <a:pPr marL="457200" lvl="0" indent="0" algn="l" rtl="0">
              <a:spcBef>
                <a:spcPts val="1500"/>
              </a:spcBef>
              <a:spcAft>
                <a:spcPts val="0"/>
              </a:spcAft>
              <a:buNone/>
            </a:pPr>
            <a:r>
              <a:rPr lang="en" b="1">
                <a:solidFill>
                  <a:schemeClr val="dk1"/>
                </a:solidFill>
              </a:rPr>
              <a:t>  Voting Power:</a:t>
            </a:r>
            <a:r>
              <a:rPr lang="en">
                <a:solidFill>
                  <a:schemeClr val="dk1"/>
                </a:solidFill>
              </a:rPr>
              <a:t> A unit with a higher beneficial interest has a greater say in all voting decisions.</a:t>
            </a:r>
            <a:endParaRPr>
              <a:solidFill>
                <a:schemeClr val="dk1"/>
              </a:solidFill>
            </a:endParaRPr>
          </a:p>
          <a:p>
            <a:pPr marL="457200" lvl="0" indent="0" algn="l" rtl="0">
              <a:spcBef>
                <a:spcPts val="1500"/>
              </a:spcBef>
              <a:spcAft>
                <a:spcPts val="0"/>
              </a:spcAft>
              <a:buNone/>
            </a:pPr>
            <a:r>
              <a:rPr lang="en" b="1">
                <a:solidFill>
                  <a:schemeClr val="dk1"/>
                </a:solidFill>
              </a:rPr>
              <a:t>  Quorum:</a:t>
            </a:r>
            <a:r>
              <a:rPr lang="en">
                <a:solidFill>
                  <a:schemeClr val="dk1"/>
                </a:solidFill>
              </a:rPr>
              <a:t> Beneficial interest is used to calculate quorum for meetings.</a:t>
            </a:r>
            <a:endParaRPr>
              <a:solidFill>
                <a:schemeClr val="dk1"/>
              </a:solidFill>
            </a:endParaRPr>
          </a:p>
          <a:p>
            <a:pPr marL="0" lvl="0" indent="0" algn="l" rtl="0">
              <a:spcBef>
                <a:spcPts val="1500"/>
              </a:spcBef>
              <a:spcAft>
                <a:spcPts val="0"/>
              </a:spcAft>
              <a:buNone/>
            </a:pPr>
            <a:r>
              <a:rPr lang="en" b="1">
                <a:solidFill>
                  <a:schemeClr val="dk1"/>
                </a:solidFill>
              </a:rPr>
              <a:t>         Common Charges:</a:t>
            </a:r>
            <a:r>
              <a:rPr lang="en">
                <a:solidFill>
                  <a:schemeClr val="dk1"/>
                </a:solidFill>
              </a:rPr>
              <a:t> It is also used to set each individual unit owner’s monthly condominium common charge.</a:t>
            </a:r>
            <a:endParaRPr>
              <a:solidFill>
                <a:schemeClr val="dk1"/>
              </a:solidFill>
            </a:endParaRPr>
          </a:p>
          <a:p>
            <a:pPr marL="0" lvl="0" indent="0" algn="l" rtl="0">
              <a:spcBef>
                <a:spcPts val="1500"/>
              </a:spcBef>
              <a:spcAft>
                <a:spcPts val="1200"/>
              </a:spcAft>
              <a:buNone/>
            </a:pPr>
            <a:endParaRPr sz="2500"/>
          </a:p>
        </p:txBody>
      </p:sp>
      <p:sp>
        <p:nvSpPr>
          <p:cNvPr id="85" name="Google Shape;85;p17"/>
          <p:cNvSpPr/>
          <p:nvPr/>
        </p:nvSpPr>
        <p:spPr>
          <a:xfrm>
            <a:off x="171125" y="1446727"/>
            <a:ext cx="681300" cy="3150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6" name="Google Shape;86;p17"/>
          <p:cNvSpPr/>
          <p:nvPr/>
        </p:nvSpPr>
        <p:spPr>
          <a:xfrm>
            <a:off x="171125" y="2223185"/>
            <a:ext cx="681300" cy="3150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 </a:t>
            </a:r>
            <a:endParaRPr/>
          </a:p>
        </p:txBody>
      </p:sp>
      <p:sp>
        <p:nvSpPr>
          <p:cNvPr id="87" name="Google Shape;87;p17"/>
          <p:cNvSpPr/>
          <p:nvPr/>
        </p:nvSpPr>
        <p:spPr>
          <a:xfrm>
            <a:off x="171125" y="2740321"/>
            <a:ext cx="681300" cy="3150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Assignment and Determination of Percentage Interests</a:t>
            </a:r>
            <a:endParaRPr/>
          </a:p>
        </p:txBody>
      </p:sp>
      <p:sp>
        <p:nvSpPr>
          <p:cNvPr id="93" name="Google Shape;93;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Each Unit owner shall be entitled to an undivided interest in the common areas and facilities in the % set forth in the master deed</a:t>
            </a:r>
            <a:endParaRPr dirty="0"/>
          </a:p>
          <a:p>
            <a:pPr marL="0" lvl="0" indent="0" algn="l" rtl="0">
              <a:spcBef>
                <a:spcPts val="1200"/>
              </a:spcBef>
              <a:spcAft>
                <a:spcPts val="0"/>
              </a:spcAft>
              <a:buNone/>
            </a:pPr>
            <a:r>
              <a:rPr lang="en" dirty="0"/>
              <a:t>	shall be in the approximate relation that the fair value of the unit on the date of the master deed bears to the then aggregate fair value of all the units.</a:t>
            </a:r>
            <a:endParaRPr dirty="0"/>
          </a:p>
          <a:p>
            <a:pPr marL="0" lvl="0" indent="0" algn="l" rtl="0">
              <a:spcBef>
                <a:spcPts val="1200"/>
              </a:spcBef>
              <a:spcAft>
                <a:spcPts val="0"/>
              </a:spcAft>
              <a:buNone/>
            </a:pPr>
            <a:r>
              <a:rPr lang="en" dirty="0"/>
              <a:t>               G.L. c 183A §5(a) criteria - unit size, unit’s position in a building, view and architectural detail.</a:t>
            </a:r>
            <a:endParaRPr dirty="0"/>
          </a:p>
          <a:p>
            <a:pPr marL="0" lvl="0" indent="0" algn="l" rtl="0">
              <a:spcBef>
                <a:spcPts val="1200"/>
              </a:spcBef>
              <a:spcAft>
                <a:spcPts val="1200"/>
              </a:spcAft>
              <a:buNone/>
            </a:pPr>
            <a:r>
              <a:rPr lang="en" dirty="0"/>
              <a:t>		</a:t>
            </a:r>
            <a:r>
              <a:rPr lang="en" b="1" dirty="0"/>
              <a:t>Note</a:t>
            </a:r>
            <a:r>
              <a:rPr lang="en" dirty="0"/>
              <a:t>: statute does not require exactitude -</a:t>
            </a:r>
            <a:endParaRPr dirty="0"/>
          </a:p>
        </p:txBody>
      </p:sp>
      <p:sp>
        <p:nvSpPr>
          <p:cNvPr id="94" name="Google Shape;94;p18"/>
          <p:cNvSpPr/>
          <p:nvPr/>
        </p:nvSpPr>
        <p:spPr>
          <a:xfrm>
            <a:off x="486200" y="1849525"/>
            <a:ext cx="681300" cy="3150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 name="Google Shape;95;p18"/>
          <p:cNvSpPr/>
          <p:nvPr/>
        </p:nvSpPr>
        <p:spPr>
          <a:xfrm>
            <a:off x="486200" y="2472587"/>
            <a:ext cx="681300" cy="3150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G.L c 183A § 5(b)</a:t>
            </a:r>
            <a:endParaRPr/>
          </a:p>
        </p:txBody>
      </p:sp>
      <p:sp>
        <p:nvSpPr>
          <p:cNvPr id="101" name="Google Shape;101;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The percentage of the undivided interest of each unit owner in the common areas and facilities as expressed in the master deed shall not be altered without the consent of all unit owners whose percentage of the undivided interest is materially affected.</a:t>
            </a:r>
            <a:endParaRPr dirty="0"/>
          </a:p>
          <a:p>
            <a:pPr marL="0" lvl="0" indent="0" algn="l" rtl="0">
              <a:spcBef>
                <a:spcPts val="1200"/>
              </a:spcBef>
              <a:spcAft>
                <a:spcPts val="1200"/>
              </a:spcAft>
              <a:buNone/>
            </a:pPr>
            <a:r>
              <a:rPr lang="en" dirty="0"/>
              <a:t>      </a:t>
            </a:r>
            <a:r>
              <a:rPr lang="en" b="1" dirty="0"/>
              <a:t>Note: </a:t>
            </a:r>
            <a:r>
              <a:rPr lang="en" dirty="0"/>
              <a:t>  regardless of language in the Master Deed governing the amendment thereof, the percentage interest cannot be changed without the consent of the owners of the units whose percentage will be affected</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A7A93-AC8D-E2DE-17A9-E4124DD78A4C}"/>
              </a:ext>
            </a:extLst>
          </p:cNvPr>
          <p:cNvSpPr>
            <a:spLocks noGrp="1"/>
          </p:cNvSpPr>
          <p:nvPr>
            <p:ph type="title"/>
          </p:nvPr>
        </p:nvSpPr>
        <p:spPr>
          <a:xfrm>
            <a:off x="227816" y="114825"/>
            <a:ext cx="8688367" cy="572700"/>
          </a:xfrm>
        </p:spPr>
        <p:txBody>
          <a:bodyPr>
            <a:normAutofit fontScale="90000"/>
          </a:bodyPr>
          <a:lstStyle/>
          <a:p>
            <a:pPr algn="ctr"/>
            <a:r>
              <a:rPr lang="en-US" dirty="0"/>
              <a:t> </a:t>
            </a:r>
            <a:r>
              <a:rPr lang="en-US" sz="2200" b="1" dirty="0"/>
              <a:t>Declaration of Trust – </a:t>
            </a:r>
            <a:br>
              <a:rPr lang="en-US" sz="2200" b="1" dirty="0"/>
            </a:br>
            <a:r>
              <a:rPr lang="en-US" sz="2200" b="1" dirty="0"/>
              <a:t>Legal document establishing the Condo Association and Outlines its Purpose and Structure</a:t>
            </a:r>
            <a:br>
              <a:rPr lang="en-US" dirty="0"/>
            </a:br>
            <a:br>
              <a:rPr lang="en-US" dirty="0"/>
            </a:br>
            <a:r>
              <a:rPr lang="en-US" sz="2000" dirty="0"/>
              <a:t>Created May 21</a:t>
            </a:r>
            <a:r>
              <a:rPr lang="en-US" sz="2000" baseline="30000" dirty="0"/>
              <a:t>st</a:t>
            </a:r>
            <a:r>
              <a:rPr lang="en-US" sz="2000" dirty="0"/>
              <a:t> 1980 by Diane Lafrance as Trustee</a:t>
            </a:r>
            <a:br>
              <a:rPr lang="en-US" sz="2000" dirty="0"/>
            </a:br>
            <a:br>
              <a:rPr lang="en-US" sz="2000" dirty="0"/>
            </a:br>
            <a:r>
              <a:rPr lang="en-US" sz="2000" dirty="0"/>
              <a:t>Set out Name of Trust- Corn Hill Cottages Condominium Trust</a:t>
            </a:r>
            <a:br>
              <a:rPr lang="en-US" sz="2000" dirty="0"/>
            </a:br>
            <a:r>
              <a:rPr lang="en-US" sz="2000" dirty="0"/>
              <a:t> </a:t>
            </a:r>
            <a:br>
              <a:rPr lang="en-US" sz="2000" dirty="0"/>
            </a:br>
            <a:r>
              <a:rPr lang="en-US" sz="2000" dirty="0"/>
              <a:t>The Trust and Its Purpose- sets out and governs the legal framework of the condominium operations </a:t>
            </a:r>
            <a:r>
              <a:rPr lang="en-US" sz="2000"/>
              <a:t>and Trustees, </a:t>
            </a:r>
            <a:r>
              <a:rPr lang="en-US" sz="2000" dirty="0"/>
              <a:t>specifies the purposes of </a:t>
            </a:r>
            <a:r>
              <a:rPr lang="en-US" sz="2000"/>
              <a:t>the Association</a:t>
            </a:r>
            <a:r>
              <a:rPr lang="en-US" sz="2000" dirty="0"/>
              <a:t>, rules for managing common areas and </a:t>
            </a:r>
            <a:br>
              <a:rPr lang="en-US" sz="2000" dirty="0"/>
            </a:br>
            <a:r>
              <a:rPr lang="en-US" sz="2000" dirty="0"/>
              <a:t> financial obligations</a:t>
            </a:r>
            <a:br>
              <a:rPr lang="en-US" sz="2000" dirty="0"/>
            </a:br>
            <a:br>
              <a:rPr lang="en-US" sz="2000" dirty="0"/>
            </a:br>
            <a:r>
              <a:rPr lang="en-US" sz="2000" dirty="0"/>
              <a:t>Article IV – Beneficial Interest in the Trust – “the BI in the trust here-under shall be divided among the Unit Owners in the percentages of undivided BI appertaining to the Units of the Condominium”</a:t>
            </a:r>
          </a:p>
        </p:txBody>
      </p:sp>
    </p:spTree>
    <p:extLst>
      <p:ext uri="{BB962C8B-B14F-4D97-AF65-F5344CB8AC3E}">
        <p14:creationId xmlns:p14="http://schemas.microsoft.com/office/powerpoint/2010/main" val="2192891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2A07A-448C-EBC6-E780-FE296D2F5AA6}"/>
              </a:ext>
            </a:extLst>
          </p:cNvPr>
          <p:cNvSpPr>
            <a:spLocks noGrp="1"/>
          </p:cNvSpPr>
          <p:nvPr>
            <p:ph type="title"/>
          </p:nvPr>
        </p:nvSpPr>
        <p:spPr/>
        <p:txBody>
          <a:bodyPr>
            <a:normAutofit fontScale="90000"/>
          </a:bodyPr>
          <a:lstStyle/>
          <a:p>
            <a:endParaRPr lang="en-US"/>
          </a:p>
        </p:txBody>
      </p:sp>
      <p:pic>
        <p:nvPicPr>
          <p:cNvPr id="4" name="Picture 3" descr="A white paper with black text&#10;&#10;AI-generated content may be incorrect.">
            <a:extLst>
              <a:ext uri="{FF2B5EF4-FFF2-40B4-BE49-F238E27FC236}">
                <a16:creationId xmlns:a16="http://schemas.microsoft.com/office/drawing/2014/main" id="{AEE7EFB5-4EAE-64BF-ABE8-82A6584F72B7}"/>
              </a:ext>
            </a:extLst>
          </p:cNvPr>
          <p:cNvPicPr>
            <a:picLocks noChangeAspect="1"/>
          </p:cNvPicPr>
          <p:nvPr/>
        </p:nvPicPr>
        <p:blipFill>
          <a:blip r:embed="rId2"/>
          <a:stretch>
            <a:fillRect/>
          </a:stretch>
        </p:blipFill>
        <p:spPr>
          <a:xfrm>
            <a:off x="0" y="189158"/>
            <a:ext cx="8961120" cy="4629332"/>
          </a:xfrm>
          <a:prstGeom prst="rect">
            <a:avLst/>
          </a:prstGeom>
        </p:spPr>
      </p:pic>
    </p:spTree>
    <p:extLst>
      <p:ext uri="{BB962C8B-B14F-4D97-AF65-F5344CB8AC3E}">
        <p14:creationId xmlns:p14="http://schemas.microsoft.com/office/powerpoint/2010/main" val="158915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0"/>
          <p:cNvSpPr txBox="1">
            <a:spLocks noGrp="1"/>
          </p:cNvSpPr>
          <p:nvPr>
            <p:ph type="title"/>
          </p:nvPr>
        </p:nvSpPr>
        <p:spPr>
          <a:xfrm>
            <a:off x="205200" y="0"/>
            <a:ext cx="8520600" cy="60895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Exhibit B --- Master Deed (1980)</a:t>
            </a:r>
            <a:endParaRPr dirty="0"/>
          </a:p>
        </p:txBody>
      </p:sp>
      <p:pic>
        <p:nvPicPr>
          <p:cNvPr id="3" name="Picture 2">
            <a:extLst>
              <a:ext uri="{FF2B5EF4-FFF2-40B4-BE49-F238E27FC236}">
                <a16:creationId xmlns:a16="http://schemas.microsoft.com/office/drawing/2014/main" id="{D889021B-74F9-90A9-3A81-9AF5168A064A}"/>
              </a:ext>
            </a:extLst>
          </p:cNvPr>
          <p:cNvPicPr>
            <a:picLocks noChangeAspect="1"/>
          </p:cNvPicPr>
          <p:nvPr/>
        </p:nvPicPr>
        <p:blipFill>
          <a:blip r:embed="rId3"/>
          <a:stretch>
            <a:fillRect/>
          </a:stretch>
        </p:blipFill>
        <p:spPr>
          <a:xfrm>
            <a:off x="963636" y="608950"/>
            <a:ext cx="7174523" cy="4534549"/>
          </a:xfrm>
          <a:prstGeom prst="rect">
            <a:avLst/>
          </a:prstGeom>
        </p:spPr>
      </p:pic>
      <p:sp>
        <p:nvSpPr>
          <p:cNvPr id="2" name="TextBox 1">
            <a:extLst>
              <a:ext uri="{FF2B5EF4-FFF2-40B4-BE49-F238E27FC236}">
                <a16:creationId xmlns:a16="http://schemas.microsoft.com/office/drawing/2014/main" id="{7EB83A9E-8259-CF2C-D97E-C424B7F75283}"/>
              </a:ext>
            </a:extLst>
          </p:cNvPr>
          <p:cNvSpPr txBox="1"/>
          <p:nvPr/>
        </p:nvSpPr>
        <p:spPr>
          <a:xfrm>
            <a:off x="1101597" y="4226773"/>
            <a:ext cx="6261651" cy="523220"/>
          </a:xfrm>
          <a:prstGeom prst="rect">
            <a:avLst/>
          </a:prstGeom>
          <a:noFill/>
        </p:spPr>
        <p:txBody>
          <a:bodyPr wrap="none" rtlCol="0">
            <a:spAutoFit/>
          </a:bodyPr>
          <a:lstStyle/>
          <a:p>
            <a:r>
              <a:rPr lang="en-US" dirty="0">
                <a:solidFill>
                  <a:schemeClr val="accent1">
                    <a:lumMod val="75000"/>
                  </a:schemeClr>
                </a:solidFill>
              </a:rPr>
              <a:t>Note: Approximate area included porches and decks which are not generally </a:t>
            </a:r>
          </a:p>
          <a:p>
            <a:r>
              <a:rPr lang="en-US" dirty="0">
                <a:solidFill>
                  <a:schemeClr val="accent1">
                    <a:lumMod val="75000"/>
                  </a:schemeClr>
                </a:solidFill>
              </a:rPr>
              <a:t>considered when determining the square footage of the interior of a dwelling.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4FBCF-9636-066E-7FDC-D0E16F68AB5E}"/>
              </a:ext>
            </a:extLst>
          </p:cNvPr>
          <p:cNvSpPr>
            <a:spLocks noGrp="1"/>
          </p:cNvSpPr>
          <p:nvPr>
            <p:ph type="title"/>
          </p:nvPr>
        </p:nvSpPr>
        <p:spPr/>
        <p:txBody>
          <a:bodyPr>
            <a:normAutofit fontScale="90000"/>
          </a:bodyPr>
          <a:lstStyle/>
          <a:p>
            <a:r>
              <a:rPr lang="en-US" dirty="0"/>
              <a:t>Continued</a:t>
            </a:r>
          </a:p>
        </p:txBody>
      </p:sp>
      <p:sp>
        <p:nvSpPr>
          <p:cNvPr id="4" name="TextBox 3">
            <a:extLst>
              <a:ext uri="{FF2B5EF4-FFF2-40B4-BE49-F238E27FC236}">
                <a16:creationId xmlns:a16="http://schemas.microsoft.com/office/drawing/2014/main" id="{FCB579D2-560C-4C17-505E-08FCEF6C8A6C}"/>
              </a:ext>
            </a:extLst>
          </p:cNvPr>
          <p:cNvSpPr txBox="1"/>
          <p:nvPr/>
        </p:nvSpPr>
        <p:spPr>
          <a:xfrm>
            <a:off x="311700" y="1559117"/>
            <a:ext cx="8595233" cy="3139321"/>
          </a:xfrm>
          <a:prstGeom prst="rect">
            <a:avLst/>
          </a:prstGeom>
          <a:noFill/>
        </p:spPr>
        <p:txBody>
          <a:bodyPr wrap="square">
            <a:spAutoFit/>
          </a:bodyPr>
          <a:lstStyle/>
          <a:p>
            <a:pPr algn="l">
              <a:buNone/>
            </a:pPr>
            <a:r>
              <a:rPr lang="en-US" sz="1800" b="0" i="0" dirty="0">
                <a:solidFill>
                  <a:schemeClr val="accent1"/>
                </a:solidFill>
                <a:effectLst/>
                <a:latin typeface="Segoe UI Web (West European)"/>
              </a:rPr>
              <a:t>When the cottages were converted into condominium ownership in 1980 by Diane La France, condominiums were a fairly new concept and law. We think her and her attorney’s choices in establishing Beneficial Interest for the condos were somewhat idiosyncratic.</a:t>
            </a:r>
          </a:p>
          <a:p>
            <a:pPr algn="l"/>
            <a:endParaRPr lang="en-US" sz="1800" b="0" i="0" dirty="0">
              <a:solidFill>
                <a:schemeClr val="accent1"/>
              </a:solidFill>
              <a:effectLst/>
              <a:latin typeface="Segoe UI Web (West European)"/>
            </a:endParaRPr>
          </a:p>
          <a:p>
            <a:pPr algn="l"/>
            <a:r>
              <a:rPr lang="en-US" sz="1800" b="0" i="0" dirty="0">
                <a:solidFill>
                  <a:schemeClr val="accent1"/>
                </a:solidFill>
                <a:effectLst/>
                <a:latin typeface="Segoe UI Web (West European)"/>
              </a:rPr>
              <a:t>The measurements for square footage of the cottages included decks and porches. This is not the current standard as to how living area should be measured for any real estate purposes; whether for appraisers, assessors, marketing, or insurance evaluations. Hence, our look at the Town of Truro’s Assessors present-day measurements of the units, and comparing the value of each unit to the overall total value of all the units.</a:t>
            </a:r>
          </a:p>
        </p:txBody>
      </p:sp>
    </p:spTree>
    <p:extLst>
      <p:ext uri="{BB962C8B-B14F-4D97-AF65-F5344CB8AC3E}">
        <p14:creationId xmlns:p14="http://schemas.microsoft.com/office/powerpoint/2010/main" val="22267857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list of instructions&#10;&#10;AI-generated content may be incorrect.">
            <a:extLst>
              <a:ext uri="{FF2B5EF4-FFF2-40B4-BE49-F238E27FC236}">
                <a16:creationId xmlns:a16="http://schemas.microsoft.com/office/drawing/2014/main" id="{CA9F2FEA-7C2F-1E56-550D-D5DEC9BBEAB7}"/>
              </a:ext>
            </a:extLst>
          </p:cNvPr>
          <p:cNvPicPr>
            <a:picLocks noChangeAspect="1"/>
          </p:cNvPicPr>
          <p:nvPr/>
        </p:nvPicPr>
        <p:blipFill>
          <a:blip r:embed="rId3"/>
          <a:stretch>
            <a:fillRect/>
          </a:stretch>
        </p:blipFill>
        <p:spPr>
          <a:xfrm>
            <a:off x="281354" y="0"/>
            <a:ext cx="8503920" cy="5143500"/>
          </a:xfrm>
          <a:prstGeom prst="rect">
            <a:avLst/>
          </a:prstGeom>
        </p:spPr>
      </p:pic>
    </p:spTree>
    <p:extLst>
      <p:ext uri="{BB962C8B-B14F-4D97-AF65-F5344CB8AC3E}">
        <p14:creationId xmlns:p14="http://schemas.microsoft.com/office/powerpoint/2010/main" val="490947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pic>
        <p:nvPicPr>
          <p:cNvPr id="3" name="Picture 2">
            <a:extLst>
              <a:ext uri="{FF2B5EF4-FFF2-40B4-BE49-F238E27FC236}">
                <a16:creationId xmlns:a16="http://schemas.microsoft.com/office/drawing/2014/main" id="{415B4EAF-D9D2-733F-84B0-02C406AB25A9}"/>
              </a:ext>
            </a:extLst>
          </p:cNvPr>
          <p:cNvPicPr>
            <a:picLocks noChangeAspect="1"/>
          </p:cNvPicPr>
          <p:nvPr/>
        </p:nvPicPr>
        <p:blipFill>
          <a:blip r:embed="rId3"/>
          <a:stretch>
            <a:fillRect/>
          </a:stretch>
        </p:blipFill>
        <p:spPr>
          <a:xfrm>
            <a:off x="43560" y="0"/>
            <a:ext cx="8244777" cy="522760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A301F-793A-A3AC-FCB0-776EC02FFFA6}"/>
              </a:ext>
            </a:extLst>
          </p:cNvPr>
          <p:cNvSpPr>
            <a:spLocks noGrp="1"/>
          </p:cNvSpPr>
          <p:nvPr>
            <p:ph type="title"/>
          </p:nvPr>
        </p:nvSpPr>
        <p:spPr/>
        <p:txBody>
          <a:bodyPr>
            <a:normAutofit fontScale="90000"/>
          </a:bodyPr>
          <a:lstStyle/>
          <a:p>
            <a:r>
              <a:rPr lang="en-US" dirty="0"/>
              <a:t>Conclusion</a:t>
            </a:r>
          </a:p>
        </p:txBody>
      </p:sp>
      <p:sp>
        <p:nvSpPr>
          <p:cNvPr id="3" name="Text Placeholder 2">
            <a:extLst>
              <a:ext uri="{FF2B5EF4-FFF2-40B4-BE49-F238E27FC236}">
                <a16:creationId xmlns:a16="http://schemas.microsoft.com/office/drawing/2014/main" id="{E3497FE6-F542-D521-D996-0524E8FBD8EF}"/>
              </a:ext>
            </a:extLst>
          </p:cNvPr>
          <p:cNvSpPr>
            <a:spLocks noGrp="1"/>
          </p:cNvSpPr>
          <p:nvPr>
            <p:ph type="body" idx="1"/>
          </p:nvPr>
        </p:nvSpPr>
        <p:spPr>
          <a:xfrm>
            <a:off x="311700" y="1152474"/>
            <a:ext cx="8520600" cy="3814161"/>
          </a:xfrm>
        </p:spPr>
        <p:txBody>
          <a:bodyPr>
            <a:normAutofit fontScale="70000" lnSpcReduction="20000"/>
          </a:bodyPr>
          <a:lstStyle/>
          <a:p>
            <a:endParaRPr lang="en-US" dirty="0"/>
          </a:p>
          <a:p>
            <a:r>
              <a:rPr lang="en-US" sz="2300" dirty="0"/>
              <a:t>Reviewing the beneficial interest can be a pivotal step in ensuring equity, transparency and adaptability.</a:t>
            </a:r>
          </a:p>
          <a:p>
            <a:endParaRPr lang="en-US" sz="2300" dirty="0"/>
          </a:p>
          <a:p>
            <a:r>
              <a:rPr lang="en-US" sz="2300" dirty="0"/>
              <a:t>BI directly affects the rights and responsibilities of unit owners –voting power &amp; financial obligations (assessments for maintenance &amp; capital improvements).</a:t>
            </a:r>
          </a:p>
          <a:p>
            <a:endParaRPr lang="en-US" sz="2300" dirty="0"/>
          </a:p>
          <a:p>
            <a:r>
              <a:rPr lang="en-US" sz="2300" dirty="0"/>
              <a:t>Changing established BI is rare, likely because relative values in Associations don’t move very much. Although we spoke to a couple of attorneys specializing in conveyancing condominiums, we could not find any examples of associations where the BI were modified.</a:t>
            </a:r>
          </a:p>
          <a:p>
            <a:endParaRPr lang="en-US" sz="2300" dirty="0"/>
          </a:p>
          <a:p>
            <a:r>
              <a:rPr lang="en-US" sz="2300" dirty="0"/>
              <a:t>After consulting with an attorney and reviewing the relevant statue, </a:t>
            </a:r>
            <a:r>
              <a:rPr lang="en-US" sz="2300" b="1" dirty="0"/>
              <a:t>we find nothing in the law that requires a change in the BI nor is there anything that prohibits a change.</a:t>
            </a:r>
          </a:p>
        </p:txBody>
      </p:sp>
    </p:spTree>
    <p:extLst>
      <p:ext uri="{BB962C8B-B14F-4D97-AF65-F5344CB8AC3E}">
        <p14:creationId xmlns:p14="http://schemas.microsoft.com/office/powerpoint/2010/main" val="1514480278"/>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2612</TotalTime>
  <Words>926</Words>
  <Application>Microsoft Macintosh PowerPoint</Application>
  <PresentationFormat>On-screen Show (16:9)</PresentationFormat>
  <Paragraphs>48</Paragraphs>
  <Slides>14</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Segoe UI Web (West European)</vt:lpstr>
      <vt:lpstr>Simple Light</vt:lpstr>
      <vt:lpstr>BENEFICIAL INTEREST</vt:lpstr>
      <vt:lpstr>BENEFICIAL INTEREST</vt:lpstr>
      <vt:lpstr>Development of Beneficial Interest </vt:lpstr>
      <vt:lpstr>Establishing Beneficial Interest </vt:lpstr>
      <vt:lpstr>Meaning and Implications of Beneficial Interest </vt:lpstr>
      <vt:lpstr>Assignment and Determination of Percentage Interests</vt:lpstr>
      <vt:lpstr>G.L c 183A § 5(b)</vt:lpstr>
      <vt:lpstr> Declaration of Trust –  Legal document establishing the Condo Association and Outlines its Purpose and Structure  Created May 21st 1980 by Diane Lafrance as Trustee  Set out Name of Trust- Corn Hill Cottages Condominium Trust   The Trust and Its Purpose- sets out and governs the legal framework of the condominium operations and Trustees, specifies the purposes of the Association, rules for managing common areas and   financial obligations  Article IV – Beneficial Interest in the Trust – “the BI in the trust here-under shall be divided among the Unit Owners in the percentages of undivided BI appertaining to the Units of the Condominium”</vt:lpstr>
      <vt:lpstr>PowerPoint Presentation</vt:lpstr>
      <vt:lpstr>Exhibit B --- Master Deed (1980)</vt:lpstr>
      <vt:lpstr>Continued</vt:lpstr>
      <vt:lpstr>PowerPoint Presentation</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liz tavares</cp:lastModifiedBy>
  <cp:revision>23</cp:revision>
  <dcterms:modified xsi:type="dcterms:W3CDTF">2025-05-01T13:45:44Z</dcterms:modified>
</cp:coreProperties>
</file>